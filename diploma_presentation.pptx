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7" r:id="rId2"/>
    <p:sldId id="257" r:id="rId3"/>
    <p:sldId id="258" r:id="rId4"/>
    <p:sldId id="269" r:id="rId5"/>
    <p:sldId id="260" r:id="rId6"/>
    <p:sldId id="261" r:id="rId7"/>
    <p:sldId id="262" r:id="rId8"/>
    <p:sldId id="263" r:id="rId9"/>
    <p:sldId id="274" r:id="rId10"/>
    <p:sldId id="276" r:id="rId11"/>
    <p:sldId id="273" r:id="rId12"/>
    <p:sldId id="266" r:id="rId13"/>
    <p:sldId id="275" r:id="rId14"/>
  </p:sldIdLst>
  <p:sldSz cx="12192000" cy="68580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8F87"/>
    <a:srgbClr val="B5E2DE"/>
    <a:srgbClr val="E8F7F6"/>
    <a:srgbClr val="CFF3E7"/>
    <a:srgbClr val="F5F8FB"/>
    <a:srgbClr val="F4F7FA"/>
    <a:srgbClr val="F1F5F9"/>
    <a:srgbClr val="2C69C9"/>
    <a:srgbClr val="E76F51"/>
    <a:srgbClr val="E4F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0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AB390-9AD8-4702-9C17-84FEB7A0AB0F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AB919-AEB8-4E5E-92F6-F45A2C97BD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348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EAB919-AEB8-4E5E-92F6-F45A2C97BD7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373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ackground">
            <a:extLst>
              <a:ext uri="{FF2B5EF4-FFF2-40B4-BE49-F238E27FC236}">
                <a16:creationId xmlns:a16="http://schemas.microsoft.com/office/drawing/2014/main" id="{8B7F7605-F93D-4955-A18D-3EA30B1608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187B1105-43EA-4DFD-8088-B7C0AADC0B3B}"/>
              </a:ext>
            </a:extLst>
          </p:cNvPr>
          <p:cNvSpPr/>
          <p:nvPr/>
        </p:nvSpPr>
        <p:spPr>
          <a:xfrm>
            <a:off x="444500" y="508000"/>
            <a:ext cx="177800" cy="5397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0F1F44C-5F4D-4A7B-90BC-83EEFA7F00E5}"/>
              </a:ext>
            </a:extLst>
          </p:cNvPr>
          <p:cNvSpPr txBox="1"/>
          <p:nvPr/>
        </p:nvSpPr>
        <p:spPr>
          <a:xfrm>
            <a:off x="857250" y="698500"/>
            <a:ext cx="3556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600" dirty="0">
                <a:solidFill>
                  <a:srgbClr val="0E8F87"/>
                </a:solidFill>
                <a:latin typeface="Segoe UI"/>
                <a:cs typeface="Segoe UI"/>
              </a:rPr>
              <a:t>Выпускная квалификационная работа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611856B-988C-44B6-A00A-EF17074FE46C}"/>
              </a:ext>
            </a:extLst>
          </p:cNvPr>
          <p:cNvSpPr txBox="1"/>
          <p:nvPr/>
        </p:nvSpPr>
        <p:spPr>
          <a:xfrm>
            <a:off x="857250" y="1439826"/>
            <a:ext cx="10605977" cy="202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600" b="1" dirty="0">
                <a:solidFill>
                  <a:srgbClr val="102033"/>
                </a:solidFill>
                <a:latin typeface="Segoe UI"/>
                <a:cs typeface="Segoe UI"/>
              </a:rPr>
              <a:t>Пространственно-адаптивное </a:t>
            </a:r>
          </a:p>
          <a:p>
            <a:pPr algn="l"/>
            <a:r>
              <a:rPr lang="ru-RU" sz="3600" b="1" dirty="0">
                <a:solidFill>
                  <a:srgbClr val="102033"/>
                </a:solidFill>
                <a:latin typeface="Segoe UI"/>
                <a:cs typeface="Segoe UI"/>
              </a:rPr>
              <a:t>расписание зашумления </a:t>
            </a:r>
          </a:p>
          <a:p>
            <a:pPr algn="l"/>
            <a:r>
              <a:rPr lang="ru-RU" sz="3600" b="1" dirty="0">
                <a:solidFill>
                  <a:srgbClr val="102033"/>
                </a:solidFill>
                <a:latin typeface="Segoe UI"/>
                <a:cs typeface="Segoe UI"/>
              </a:rPr>
              <a:t>для диффузионных моделей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D9CF6E7-9BC3-4D98-8B13-5CEBE96BC721}"/>
              </a:ext>
            </a:extLst>
          </p:cNvPr>
          <p:cNvGrpSpPr/>
          <p:nvPr/>
        </p:nvGrpSpPr>
        <p:grpSpPr>
          <a:xfrm>
            <a:off x="857250" y="4749800"/>
            <a:ext cx="6286500" cy="1155700"/>
            <a:chOff x="857250" y="5175250"/>
            <a:chExt cx="6286500" cy="838200"/>
          </a:xfrm>
        </p:grpSpPr>
        <p:sp>
          <p:nvSpPr>
            <p:cNvPr id="7" name="Card">
              <a:extLst>
                <a:ext uri="{FF2B5EF4-FFF2-40B4-BE49-F238E27FC236}">
                  <a16:creationId xmlns:a16="http://schemas.microsoft.com/office/drawing/2014/main" id="{07012737-900E-4D29-8F2B-DDA951B8C82C}"/>
                </a:ext>
              </a:extLst>
            </p:cNvPr>
            <p:cNvSpPr/>
            <p:nvPr/>
          </p:nvSpPr>
          <p:spPr>
            <a:xfrm>
              <a:off x="857250" y="5175250"/>
              <a:ext cx="6286500" cy="838200"/>
            </a:xfrm>
            <a:prstGeom prst="roundRect">
              <a:avLst/>
            </a:prstGeom>
            <a:solidFill>
              <a:srgbClr val="E8F7F6"/>
            </a:solidFill>
            <a:ln w="6350">
              <a:solidFill>
                <a:srgbClr val="E5EAF1"/>
              </a:solidFill>
            </a:ln>
          </p:spPr>
        </p:sp>
        <p:sp>
          <p:nvSpPr>
            <p:cNvPr id="8" name="Text">
              <a:extLst>
                <a:ext uri="{FF2B5EF4-FFF2-40B4-BE49-F238E27FC236}">
                  <a16:creationId xmlns:a16="http://schemas.microsoft.com/office/drawing/2014/main" id="{4A71F90D-28EB-4140-B60D-D6D3C2CB2B66}"/>
                </a:ext>
              </a:extLst>
            </p:cNvPr>
            <p:cNvSpPr txBox="1"/>
            <p:nvPr/>
          </p:nvSpPr>
          <p:spPr>
            <a:xfrm>
              <a:off x="1079500" y="5323076"/>
              <a:ext cx="4445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2100" b="1" dirty="0">
                  <a:solidFill>
                    <a:srgbClr val="102033"/>
                  </a:solidFill>
                  <a:latin typeface="Segoe UI"/>
                  <a:cs typeface="Segoe UI"/>
                </a:rPr>
                <a:t>Гришина Елена Романовна</a:t>
              </a:r>
            </a:p>
          </p:txBody>
        </p:sp>
        <p:sp>
          <p:nvSpPr>
            <p:cNvPr id="9" name="Text">
              <a:extLst>
                <a:ext uri="{FF2B5EF4-FFF2-40B4-BE49-F238E27FC236}">
                  <a16:creationId xmlns:a16="http://schemas.microsoft.com/office/drawing/2014/main" id="{14C50742-97EA-4F97-B3B5-5F72637D13CA}"/>
                </a:ext>
              </a:extLst>
            </p:cNvPr>
            <p:cNvSpPr txBox="1"/>
            <p:nvPr/>
          </p:nvSpPr>
          <p:spPr>
            <a:xfrm>
              <a:off x="1079500" y="5683250"/>
              <a:ext cx="546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dirty="0">
                  <a:solidFill>
                    <a:srgbClr val="526278"/>
                  </a:solidFill>
                  <a:latin typeface="Segoe UI"/>
                  <a:cs typeface="Segoe UI"/>
                </a:rPr>
                <a:t>Руководитель: </a:t>
              </a:r>
              <a:r>
                <a:rPr lang="ru-RU" sz="1600" dirty="0" err="1">
                  <a:solidFill>
                    <a:srgbClr val="526278"/>
                  </a:solidFill>
                  <a:latin typeface="Segoe UI"/>
                  <a:cs typeface="Segoe UI"/>
                </a:rPr>
                <a:t>Айбек</a:t>
              </a:r>
              <a:r>
                <a:rPr lang="ru-RU" sz="1600" dirty="0">
                  <a:solidFill>
                    <a:srgbClr val="526278"/>
                  </a:solidFill>
                  <a:latin typeface="Segoe UI"/>
                  <a:cs typeface="Segoe UI"/>
                </a:rPr>
                <a:t> Аланов • НИУ ВШЭ, ФКН •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354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9" name="Card"/>
          <p:cNvSpPr/>
          <p:nvPr/>
        </p:nvSpPr>
        <p:spPr>
          <a:xfrm>
            <a:off x="571500" y="1202871"/>
            <a:ext cx="5040000" cy="531222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sp>
        <p:nvSpPr>
          <p:cNvPr id="21" name="Card"/>
          <p:cNvSpPr/>
          <p:nvPr/>
        </p:nvSpPr>
        <p:spPr>
          <a:xfrm>
            <a:off x="5865500" y="1239610"/>
            <a:ext cx="5564500" cy="526777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sp>
        <p:nvSpPr>
          <p:cNvPr id="22" name="Text"/>
          <p:cNvSpPr txBox="1"/>
          <p:nvPr/>
        </p:nvSpPr>
        <p:spPr>
          <a:xfrm>
            <a:off x="6234750" y="1558020"/>
            <a:ext cx="5195250" cy="353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Типичные ошибки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399850" y="2236560"/>
            <a:ext cx="4660900" cy="22134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пропуск объекта, указанного в текстовом запросе</a:t>
            </a:r>
          </a:p>
          <a:p>
            <a:pPr algn="l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неверный цвет, количество или атрибуты объекта</a:t>
            </a:r>
          </a:p>
          <a:p>
            <a:pPr algn="l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искажение действия: объект есть, но не выполняет нужное действие</a:t>
            </a:r>
          </a:p>
          <a:p>
            <a:pPr algn="l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нарушение пространственных отношений между объектами</a:t>
            </a: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63C15A75-55A8-4501-93F9-1BB7387C3D9F}"/>
              </a:ext>
            </a:extLst>
          </p:cNvPr>
          <p:cNvGrpSpPr/>
          <p:nvPr/>
        </p:nvGrpSpPr>
        <p:grpSpPr>
          <a:xfrm>
            <a:off x="6149436" y="5097690"/>
            <a:ext cx="4996628" cy="1041400"/>
            <a:chOff x="6183000" y="4603750"/>
            <a:chExt cx="4996628" cy="1041400"/>
          </a:xfrm>
        </p:grpSpPr>
        <p:sp>
          <p:nvSpPr>
            <p:cNvPr id="31" name="Shape"/>
            <p:cNvSpPr/>
            <p:nvPr/>
          </p:nvSpPr>
          <p:spPr>
            <a:xfrm>
              <a:off x="6183000" y="4603750"/>
              <a:ext cx="4996628" cy="1041400"/>
            </a:xfrm>
            <a:prstGeom prst="roundRect">
              <a:avLst/>
            </a:prstGeom>
            <a:solidFill>
              <a:srgbClr val="E8F7F6"/>
            </a:solidFill>
            <a:ln w="6350">
              <a:solidFill>
                <a:srgbClr val="B3E1DD"/>
              </a:solidFill>
            </a:ln>
          </p:spPr>
        </p:sp>
        <p:sp>
          <p:nvSpPr>
            <p:cNvPr id="32" name="Text"/>
            <p:cNvSpPr txBox="1"/>
            <p:nvPr/>
          </p:nvSpPr>
          <p:spPr>
            <a:xfrm>
              <a:off x="6286500" y="4743450"/>
              <a:ext cx="996802" cy="2815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b="1" dirty="0">
                  <a:solidFill>
                    <a:srgbClr val="0E8F87"/>
                  </a:solidFill>
                  <a:latin typeface="Segoe UI"/>
                  <a:cs typeface="Segoe UI"/>
                </a:rPr>
                <a:t>Гипотеза:</a:t>
              </a:r>
            </a:p>
          </p:txBody>
        </p:sp>
        <p:sp>
          <p:nvSpPr>
            <p:cNvPr id="33" name="Text"/>
            <p:cNvSpPr txBox="1"/>
            <p:nvPr/>
          </p:nvSpPr>
          <p:spPr>
            <a:xfrm>
              <a:off x="7386802" y="4711188"/>
              <a:ext cx="3525352" cy="8265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just"/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одинаковый </a:t>
              </a: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timestep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 для всех областей изображения ограничивает возможности модели</a:t>
              </a:r>
            </a:p>
          </p:txBody>
        </p:sp>
      </p:grpSp>
      <p:sp>
        <p:nvSpPr>
          <p:cNvPr id="36" name="Text">
            <a:extLst>
              <a:ext uri="{FF2B5EF4-FFF2-40B4-BE49-F238E27FC236}">
                <a16:creationId xmlns:a16="http://schemas.microsoft.com/office/drawing/2014/main" id="{202B182E-680F-4954-96D5-9FBEC9F01F09}"/>
              </a:ext>
            </a:extLst>
          </p:cNvPr>
          <p:cNvSpPr txBox="1"/>
          <p:nvPr/>
        </p:nvSpPr>
        <p:spPr>
          <a:xfrm>
            <a:off x="711200" y="342900"/>
            <a:ext cx="825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rgbClr val="102033"/>
                </a:solidFill>
                <a:latin typeface="Segoe UI"/>
                <a:cs typeface="Segoe UI"/>
              </a:rPr>
              <a:t>Проблема </a:t>
            </a:r>
            <a:r>
              <a:rPr lang="ru-RU" sz="3000" b="1" dirty="0" err="1">
                <a:solidFill>
                  <a:srgbClr val="102033"/>
                </a:solidFill>
                <a:latin typeface="Segoe UI"/>
                <a:cs typeface="Segoe UI"/>
              </a:rPr>
              <a:t>text-to-image</a:t>
            </a:r>
            <a:r>
              <a:rPr lang="ru-RU" sz="3000" b="1" dirty="0">
                <a:solidFill>
                  <a:srgbClr val="102033"/>
                </a:solidFill>
                <a:latin typeface="Segoe UI"/>
                <a:cs typeface="Segoe UI"/>
              </a:rPr>
              <a:t> </a:t>
            </a:r>
            <a:r>
              <a:rPr lang="ru-RU" sz="3000" b="1" dirty="0" err="1">
                <a:solidFill>
                  <a:srgbClr val="102033"/>
                </a:solidFill>
                <a:latin typeface="Segoe UI"/>
                <a:cs typeface="Segoe UI"/>
              </a:rPr>
              <a:t>alignment</a:t>
            </a:r>
            <a:endParaRPr lang="ru-RU" sz="3000" b="1" dirty="0">
              <a:solidFill>
                <a:srgbClr val="102033"/>
              </a:solidFill>
              <a:latin typeface="Segoe UI"/>
              <a:cs typeface="Segoe UI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66389530-E47E-45E6-8BD0-341FCC66F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700" y="2034849"/>
            <a:ext cx="1440000" cy="14400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B4418941-337E-492A-A11D-43EE8D834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700" y="3735160"/>
            <a:ext cx="1440000" cy="1440000"/>
          </a:xfrm>
          <a:prstGeom prst="rect">
            <a:avLst/>
          </a:prstGeom>
        </p:spPr>
      </p:pic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6070C2AD-1F1E-401D-846F-0272586DFEA5}"/>
              </a:ext>
            </a:extLst>
          </p:cNvPr>
          <p:cNvGrpSpPr/>
          <p:nvPr/>
        </p:nvGrpSpPr>
        <p:grpSpPr>
          <a:xfrm>
            <a:off x="1634995" y="5377088"/>
            <a:ext cx="2785837" cy="762001"/>
            <a:chOff x="1358363" y="5243835"/>
            <a:chExt cx="2785837" cy="906593"/>
          </a:xfrm>
        </p:grpSpPr>
        <p:sp>
          <p:nvSpPr>
            <p:cNvPr id="18" name="Shape"/>
            <p:cNvSpPr/>
            <p:nvPr/>
          </p:nvSpPr>
          <p:spPr>
            <a:xfrm>
              <a:off x="1358363" y="5243835"/>
              <a:ext cx="2785837" cy="906593"/>
            </a:xfrm>
            <a:prstGeom prst="roundRect">
              <a:avLst/>
            </a:prstGeom>
            <a:solidFill>
              <a:srgbClr val="FFF1E9"/>
            </a:solidFill>
            <a:ln w="6350">
              <a:solidFill>
                <a:srgbClr val="F8B496"/>
              </a:solidFill>
            </a:ln>
          </p:spPr>
        </p:sp>
        <p:sp>
          <p:nvSpPr>
            <p:cNvPr id="19" name="Text"/>
            <p:cNvSpPr txBox="1"/>
            <p:nvPr/>
          </p:nvSpPr>
          <p:spPr>
            <a:xfrm>
              <a:off x="1494496" y="5383488"/>
              <a:ext cx="2599008" cy="6472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визуально правдоподобно,</a:t>
              </a:r>
            </a:p>
            <a:p>
              <a:pPr algn="l"/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но семантически неверно</a:t>
              </a:r>
            </a:p>
          </p:txBody>
        </p:sp>
      </p:grpSp>
      <p:sp>
        <p:nvSpPr>
          <p:cNvPr id="46" name="Text">
            <a:extLst>
              <a:ext uri="{FF2B5EF4-FFF2-40B4-BE49-F238E27FC236}">
                <a16:creationId xmlns:a16="http://schemas.microsoft.com/office/drawing/2014/main" id="{5AC1ECA2-B5E9-4F52-8DEC-805DCB005DD9}"/>
              </a:ext>
            </a:extLst>
          </p:cNvPr>
          <p:cNvSpPr txBox="1"/>
          <p:nvPr/>
        </p:nvSpPr>
        <p:spPr>
          <a:xfrm>
            <a:off x="1131250" y="2034849"/>
            <a:ext cx="1829665" cy="1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just"/>
            <a:r>
              <a:rPr lang="en-US" sz="1600" dirty="0">
                <a:solidFill>
                  <a:srgbClr val="102033"/>
                </a:solidFill>
                <a:latin typeface="Segoe UI"/>
                <a:cs typeface="Segoe UI"/>
              </a:rPr>
              <a:t>a cute ostrich on the chair</a:t>
            </a:r>
          </a:p>
        </p:txBody>
      </p:sp>
      <p:sp>
        <p:nvSpPr>
          <p:cNvPr id="47" name="Text">
            <a:extLst>
              <a:ext uri="{FF2B5EF4-FFF2-40B4-BE49-F238E27FC236}">
                <a16:creationId xmlns:a16="http://schemas.microsoft.com/office/drawing/2014/main" id="{769484BB-2AD4-4512-B238-CC6DD16FC5EB}"/>
              </a:ext>
            </a:extLst>
          </p:cNvPr>
          <p:cNvSpPr txBox="1"/>
          <p:nvPr/>
        </p:nvSpPr>
        <p:spPr>
          <a:xfrm>
            <a:off x="1131251" y="3704763"/>
            <a:ext cx="1829664" cy="1446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just"/>
            <a:r>
              <a:rPr lang="en-US" sz="1600" dirty="0">
                <a:solidFill>
                  <a:srgbClr val="102033"/>
                </a:solidFill>
                <a:latin typeface="Segoe UI"/>
                <a:cs typeface="Segoe UI"/>
              </a:rPr>
              <a:t>A couch on the left of a chair.</a:t>
            </a:r>
          </a:p>
        </p:txBody>
      </p:sp>
      <p:sp>
        <p:nvSpPr>
          <p:cNvPr id="49" name="Text">
            <a:extLst>
              <a:ext uri="{FF2B5EF4-FFF2-40B4-BE49-F238E27FC236}">
                <a16:creationId xmlns:a16="http://schemas.microsoft.com/office/drawing/2014/main" id="{C8BE45CC-0F02-4ED5-B70D-B9113B51B6B0}"/>
              </a:ext>
            </a:extLst>
          </p:cNvPr>
          <p:cNvSpPr txBox="1"/>
          <p:nvPr/>
        </p:nvSpPr>
        <p:spPr>
          <a:xfrm>
            <a:off x="954186" y="1558020"/>
            <a:ext cx="4352600" cy="359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Примеры</a:t>
            </a:r>
          </a:p>
        </p:txBody>
      </p:sp>
      <p:sp>
        <p:nvSpPr>
          <p:cNvPr id="50" name="Ellipse">
            <a:extLst>
              <a:ext uri="{FF2B5EF4-FFF2-40B4-BE49-F238E27FC236}">
                <a16:creationId xmlns:a16="http://schemas.microsoft.com/office/drawing/2014/main" id="{7FE6C063-325C-41B0-B13C-539A715A7F75}"/>
              </a:ext>
            </a:extLst>
          </p:cNvPr>
          <p:cNvSpPr/>
          <p:nvPr/>
        </p:nvSpPr>
        <p:spPr>
          <a:xfrm>
            <a:off x="6234750" y="2360436"/>
            <a:ext cx="63500" cy="63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1" name="Ellipse">
            <a:extLst>
              <a:ext uri="{FF2B5EF4-FFF2-40B4-BE49-F238E27FC236}">
                <a16:creationId xmlns:a16="http://schemas.microsoft.com/office/drawing/2014/main" id="{6043BD44-58FF-49CB-BBE8-402795C227A8}"/>
              </a:ext>
            </a:extLst>
          </p:cNvPr>
          <p:cNvSpPr/>
          <p:nvPr/>
        </p:nvSpPr>
        <p:spPr>
          <a:xfrm>
            <a:off x="6234750" y="2890264"/>
            <a:ext cx="63500" cy="63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2" name="Ellipse">
            <a:extLst>
              <a:ext uri="{FF2B5EF4-FFF2-40B4-BE49-F238E27FC236}">
                <a16:creationId xmlns:a16="http://schemas.microsoft.com/office/drawing/2014/main" id="{3F5AE453-5350-40A0-9EA9-99876A055E0E}"/>
              </a:ext>
            </a:extLst>
          </p:cNvPr>
          <p:cNvSpPr/>
          <p:nvPr/>
        </p:nvSpPr>
        <p:spPr>
          <a:xfrm>
            <a:off x="6234750" y="3429404"/>
            <a:ext cx="63500" cy="63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53" name="Ellipse">
            <a:extLst>
              <a:ext uri="{FF2B5EF4-FFF2-40B4-BE49-F238E27FC236}">
                <a16:creationId xmlns:a16="http://schemas.microsoft.com/office/drawing/2014/main" id="{36BB45BF-123F-4AEB-8E55-15E6E3325D96}"/>
              </a:ext>
            </a:extLst>
          </p:cNvPr>
          <p:cNvSpPr/>
          <p:nvPr/>
        </p:nvSpPr>
        <p:spPr>
          <a:xfrm>
            <a:off x="6234750" y="3965222"/>
            <a:ext cx="63500" cy="63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8" name="Shape"/>
          <p:cNvSpPr/>
          <p:nvPr/>
        </p:nvSpPr>
        <p:spPr>
          <a:xfrm>
            <a:off x="698500" y="1492250"/>
            <a:ext cx="10795000" cy="1022350"/>
          </a:xfrm>
          <a:prstGeom prst="roundRect">
            <a:avLst/>
          </a:prstGeom>
          <a:solidFill>
            <a:srgbClr val="E8F7F6"/>
          </a:solidFill>
          <a:ln w="6350">
            <a:solidFill>
              <a:srgbClr val="B6E2DE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984250" y="1714499"/>
            <a:ext cx="956192" cy="3269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0E8F87"/>
                </a:solidFill>
                <a:latin typeface="Segoe UI"/>
                <a:cs typeface="Segoe UI"/>
              </a:rPr>
              <a:t>Цель: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982972" y="1714499"/>
            <a:ext cx="7293935" cy="5524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just"/>
            <a:r>
              <a:rPr lang="ru-RU" sz="1800" dirty="0">
                <a:solidFill>
                  <a:srgbClr val="102033"/>
                </a:solidFill>
                <a:latin typeface="Segoe UI"/>
                <a:cs typeface="Segoe UI"/>
              </a:rPr>
              <a:t>разработать и исследовать метод обучения диффузионной модели </a:t>
            </a:r>
            <a:br>
              <a:rPr lang="ru-RU" dirty="0">
                <a:solidFill>
                  <a:srgbClr val="102033"/>
                </a:solidFill>
                <a:latin typeface="Segoe UI"/>
                <a:cs typeface="Segoe UI"/>
              </a:rPr>
            </a:br>
            <a:r>
              <a:rPr lang="ru-RU" sz="1800" dirty="0">
                <a:solidFill>
                  <a:srgbClr val="102033"/>
                </a:solidFill>
                <a:latin typeface="Segoe UI"/>
                <a:cs typeface="Segoe UI"/>
              </a:rPr>
              <a:t>с пространственно-неоднородным расписанием шума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7FB714AC-26B2-446D-847B-963AF4365968}"/>
              </a:ext>
            </a:extLst>
          </p:cNvPr>
          <p:cNvSpPr txBox="1"/>
          <p:nvPr/>
        </p:nvSpPr>
        <p:spPr>
          <a:xfrm>
            <a:off x="711200" y="342900"/>
            <a:ext cx="825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rgbClr val="102033"/>
                </a:solidFill>
                <a:latin typeface="Segoe UI"/>
                <a:cs typeface="Segoe UI"/>
              </a:rPr>
              <a:t>Цель и задачи работы</a:t>
            </a:r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F10F4C34-6A4A-419A-B208-53861AF6B074}"/>
              </a:ext>
            </a:extLst>
          </p:cNvPr>
          <p:cNvGrpSpPr/>
          <p:nvPr/>
        </p:nvGrpSpPr>
        <p:grpSpPr>
          <a:xfrm>
            <a:off x="698500" y="3040875"/>
            <a:ext cx="10795000" cy="2779700"/>
            <a:chOff x="762000" y="2717800"/>
            <a:chExt cx="10763250" cy="2779700"/>
          </a:xfrm>
        </p:grpSpPr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EF6A2691-68D7-4D90-B635-2A435CF9982A}"/>
                </a:ext>
              </a:extLst>
            </p:cNvPr>
            <p:cNvGrpSpPr/>
            <p:nvPr/>
          </p:nvGrpSpPr>
          <p:grpSpPr>
            <a:xfrm>
              <a:off x="762000" y="2717800"/>
              <a:ext cx="10763250" cy="1117600"/>
              <a:chOff x="762000" y="2717800"/>
              <a:chExt cx="10763250" cy="1117600"/>
            </a:xfrm>
          </p:grpSpPr>
          <p:sp>
            <p:nvSpPr>
              <p:cNvPr id="11" name="Card"/>
              <p:cNvSpPr/>
              <p:nvPr/>
            </p:nvSpPr>
            <p:spPr>
              <a:xfrm>
                <a:off x="762000" y="2717800"/>
                <a:ext cx="3333750" cy="1117600"/>
              </a:xfrm>
              <a:prstGeom prst="roundRect">
                <a:avLst/>
              </a:prstGeom>
              <a:solidFill>
                <a:srgbClr val="FFFFFF"/>
              </a:solidFill>
              <a:ln w="6350">
                <a:solidFill>
                  <a:srgbClr val="E5EAF1"/>
                </a:solidFill>
              </a:ln>
            </p:spPr>
          </p:sp>
          <p:sp>
            <p:nvSpPr>
              <p:cNvPr id="12" name="Ellipse"/>
              <p:cNvSpPr/>
              <p:nvPr/>
            </p:nvSpPr>
            <p:spPr>
              <a:xfrm>
                <a:off x="952500" y="2933700"/>
                <a:ext cx="381000" cy="381000"/>
              </a:xfrm>
              <a:prstGeom prst="ellipse">
                <a:avLst/>
              </a:prstGeom>
              <a:solidFill>
                <a:srgbClr val="0E8F87"/>
              </a:solidFill>
              <a:ln>
                <a:noFill/>
              </a:ln>
            </p:spPr>
          </p:sp>
          <p:sp>
            <p:nvSpPr>
              <p:cNvPr id="13" name="Text"/>
              <p:cNvSpPr txBox="1"/>
              <p:nvPr/>
            </p:nvSpPr>
            <p:spPr>
              <a:xfrm>
                <a:off x="1046910" y="3035300"/>
                <a:ext cx="1524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400" b="1" dirty="0">
                    <a:solidFill>
                      <a:srgbClr val="FFFFFF"/>
                    </a:solidFill>
                    <a:latin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14" name="Text"/>
              <p:cNvSpPr txBox="1"/>
              <p:nvPr/>
            </p:nvSpPr>
            <p:spPr>
              <a:xfrm>
                <a:off x="1492250" y="2898775"/>
                <a:ext cx="22860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600" dirty="0">
                    <a:solidFill>
                      <a:srgbClr val="102033"/>
                    </a:solidFill>
                    <a:latin typeface="Segoe UI"/>
                    <a:cs typeface="Segoe UI"/>
                  </a:rPr>
                  <a:t>изучить стандартный диффузионный процесс и метод </a:t>
                </a:r>
                <a:r>
                  <a:rPr lang="ru-RU" sz="1600" dirty="0" err="1">
                    <a:solidFill>
                      <a:srgbClr val="102033"/>
                    </a:solidFill>
                    <a:latin typeface="Segoe UI"/>
                    <a:cs typeface="Segoe UI"/>
                  </a:rPr>
                  <a:t>AsynDM</a:t>
                </a:r>
                <a:endParaRPr lang="ru-RU" sz="1600" dirty="0">
                  <a:solidFill>
                    <a:srgbClr val="102033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5" name="Card"/>
              <p:cNvSpPr/>
              <p:nvPr/>
            </p:nvSpPr>
            <p:spPr>
              <a:xfrm>
                <a:off x="4476750" y="2717800"/>
                <a:ext cx="3333750" cy="1117600"/>
              </a:xfrm>
              <a:prstGeom prst="roundRect">
                <a:avLst/>
              </a:prstGeom>
              <a:solidFill>
                <a:srgbClr val="FFFFFF"/>
              </a:solidFill>
              <a:ln w="6350">
                <a:solidFill>
                  <a:srgbClr val="E5EAF1"/>
                </a:solidFill>
              </a:ln>
            </p:spPr>
          </p:sp>
          <p:sp>
            <p:nvSpPr>
              <p:cNvPr id="16" name="Ellipse"/>
              <p:cNvSpPr/>
              <p:nvPr/>
            </p:nvSpPr>
            <p:spPr>
              <a:xfrm>
                <a:off x="4667250" y="2933700"/>
                <a:ext cx="381000" cy="381000"/>
              </a:xfrm>
              <a:prstGeom prst="ellipse">
                <a:avLst/>
              </a:prstGeom>
              <a:solidFill>
                <a:srgbClr val="0E8F87"/>
              </a:solidFill>
              <a:ln>
                <a:noFill/>
              </a:ln>
            </p:spPr>
          </p:sp>
          <p:sp>
            <p:nvSpPr>
              <p:cNvPr id="17" name="Text"/>
              <p:cNvSpPr txBox="1"/>
              <p:nvPr/>
            </p:nvSpPr>
            <p:spPr>
              <a:xfrm>
                <a:off x="4781550" y="3035300"/>
                <a:ext cx="1524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400" b="1" dirty="0">
                    <a:solidFill>
                      <a:srgbClr val="FFFFFF"/>
                    </a:solidFill>
                    <a:latin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18" name="Text"/>
              <p:cNvSpPr txBox="1"/>
              <p:nvPr/>
            </p:nvSpPr>
            <p:spPr>
              <a:xfrm>
                <a:off x="5207000" y="2921000"/>
                <a:ext cx="2286000" cy="762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600" dirty="0">
                    <a:solidFill>
                      <a:srgbClr val="102033"/>
                    </a:solidFill>
                    <a:latin typeface="Segoe UI"/>
                    <a:cs typeface="Segoe UI"/>
                  </a:rPr>
                  <a:t>модифицировать обучение: сделать его асинхронным</a:t>
                </a:r>
              </a:p>
            </p:txBody>
          </p:sp>
          <p:sp>
            <p:nvSpPr>
              <p:cNvPr id="19" name="Card"/>
              <p:cNvSpPr/>
              <p:nvPr/>
            </p:nvSpPr>
            <p:spPr>
              <a:xfrm>
                <a:off x="8191500" y="2717800"/>
                <a:ext cx="3333750" cy="1117600"/>
              </a:xfrm>
              <a:prstGeom prst="roundRect">
                <a:avLst/>
              </a:prstGeom>
              <a:solidFill>
                <a:srgbClr val="FFFFFF"/>
              </a:solidFill>
              <a:ln w="6350">
                <a:solidFill>
                  <a:srgbClr val="E5EAF1"/>
                </a:solidFill>
              </a:ln>
            </p:spPr>
          </p:sp>
          <p:sp>
            <p:nvSpPr>
              <p:cNvPr id="20" name="Ellipse"/>
              <p:cNvSpPr/>
              <p:nvPr/>
            </p:nvSpPr>
            <p:spPr>
              <a:xfrm>
                <a:off x="8382000" y="2933700"/>
                <a:ext cx="381000" cy="381000"/>
              </a:xfrm>
              <a:prstGeom prst="ellipse">
                <a:avLst/>
              </a:prstGeom>
              <a:solidFill>
                <a:srgbClr val="0E8F87"/>
              </a:solidFill>
              <a:ln>
                <a:noFill/>
              </a:ln>
            </p:spPr>
          </p:sp>
          <p:sp>
            <p:nvSpPr>
              <p:cNvPr id="21" name="Text"/>
              <p:cNvSpPr txBox="1"/>
              <p:nvPr/>
            </p:nvSpPr>
            <p:spPr>
              <a:xfrm>
                <a:off x="8496300" y="3035300"/>
                <a:ext cx="1524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400" b="1" dirty="0">
                    <a:solidFill>
                      <a:srgbClr val="FFFFFF"/>
                    </a:solidFill>
                    <a:latin typeface="Segoe UI"/>
                    <a:cs typeface="Segoe UI"/>
                  </a:rPr>
                  <a:t>3</a:t>
                </a:r>
              </a:p>
            </p:txBody>
          </p:sp>
          <p:sp>
            <p:nvSpPr>
              <p:cNvPr id="22" name="Text"/>
              <p:cNvSpPr txBox="1"/>
              <p:nvPr/>
            </p:nvSpPr>
            <p:spPr>
              <a:xfrm>
                <a:off x="8921750" y="2921000"/>
                <a:ext cx="2286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just"/>
                <a:r>
                  <a:rPr lang="ru-RU" sz="1600" dirty="0">
                    <a:solidFill>
                      <a:srgbClr val="102033"/>
                    </a:solidFill>
                    <a:latin typeface="Segoe UI"/>
                    <a:cs typeface="Segoe UI"/>
                  </a:rPr>
                  <a:t>построить маски семантически релевантных областей</a:t>
                </a:r>
              </a:p>
            </p:txBody>
          </p:sp>
        </p:grpSp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434FEBA6-ED04-43DE-A945-560B3E42B604}"/>
                </a:ext>
              </a:extLst>
            </p:cNvPr>
            <p:cNvGrpSpPr/>
            <p:nvPr/>
          </p:nvGrpSpPr>
          <p:grpSpPr>
            <a:xfrm>
              <a:off x="2508250" y="4379900"/>
              <a:ext cx="7397750" cy="1117600"/>
              <a:chOff x="2508250" y="4379900"/>
              <a:chExt cx="7397750" cy="1117600"/>
            </a:xfrm>
          </p:grpSpPr>
          <p:sp>
            <p:nvSpPr>
              <p:cNvPr id="35" name="Card">
                <a:extLst>
                  <a:ext uri="{FF2B5EF4-FFF2-40B4-BE49-F238E27FC236}">
                    <a16:creationId xmlns:a16="http://schemas.microsoft.com/office/drawing/2014/main" id="{3433AA0B-FEE8-4B60-8826-F2B1B601CA4C}"/>
                  </a:ext>
                </a:extLst>
              </p:cNvPr>
              <p:cNvSpPr/>
              <p:nvPr/>
            </p:nvSpPr>
            <p:spPr>
              <a:xfrm>
                <a:off x="6572250" y="4379900"/>
                <a:ext cx="3333750" cy="1117600"/>
              </a:xfrm>
              <a:prstGeom prst="roundRect">
                <a:avLst/>
              </a:prstGeom>
              <a:solidFill>
                <a:srgbClr val="FFFFFF"/>
              </a:solidFill>
              <a:ln w="6350">
                <a:solidFill>
                  <a:srgbClr val="E5EAF1"/>
                </a:solidFill>
              </a:ln>
            </p:spPr>
          </p:sp>
          <p:sp>
            <p:nvSpPr>
              <p:cNvPr id="36" name="Ellipse">
                <a:extLst>
                  <a:ext uri="{FF2B5EF4-FFF2-40B4-BE49-F238E27FC236}">
                    <a16:creationId xmlns:a16="http://schemas.microsoft.com/office/drawing/2014/main" id="{79391898-E14A-4AFB-98F7-DA449A8E5884}"/>
                  </a:ext>
                </a:extLst>
              </p:cNvPr>
              <p:cNvSpPr/>
              <p:nvPr/>
            </p:nvSpPr>
            <p:spPr>
              <a:xfrm>
                <a:off x="6762750" y="4595800"/>
                <a:ext cx="381000" cy="381000"/>
              </a:xfrm>
              <a:prstGeom prst="ellipse">
                <a:avLst/>
              </a:prstGeom>
              <a:solidFill>
                <a:srgbClr val="0E8F87"/>
              </a:solidFill>
              <a:ln>
                <a:noFill/>
              </a:ln>
            </p:spPr>
          </p:sp>
          <p:sp>
            <p:nvSpPr>
              <p:cNvPr id="37" name="Text">
                <a:extLst>
                  <a:ext uri="{FF2B5EF4-FFF2-40B4-BE49-F238E27FC236}">
                    <a16:creationId xmlns:a16="http://schemas.microsoft.com/office/drawing/2014/main" id="{D3076E2C-CEE2-4494-8B1F-F90D6A7CE30A}"/>
                  </a:ext>
                </a:extLst>
              </p:cNvPr>
              <p:cNvSpPr txBox="1"/>
              <p:nvPr/>
            </p:nvSpPr>
            <p:spPr>
              <a:xfrm>
                <a:off x="6877050" y="4697400"/>
                <a:ext cx="1524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400" b="1" dirty="0">
                    <a:solidFill>
                      <a:srgbClr val="FFFFFF"/>
                    </a:solidFill>
                    <a:latin typeface="Segoe UI"/>
                    <a:cs typeface="Segoe UI"/>
                  </a:rPr>
                  <a:t>5</a:t>
                </a:r>
              </a:p>
            </p:txBody>
          </p:sp>
          <p:sp>
            <p:nvSpPr>
              <p:cNvPr id="38" name="Text">
                <a:extLst>
                  <a:ext uri="{FF2B5EF4-FFF2-40B4-BE49-F238E27FC236}">
                    <a16:creationId xmlns:a16="http://schemas.microsoft.com/office/drawing/2014/main" id="{E2C7E7F2-7EAE-4825-A459-D43DB4293D62}"/>
                  </a:ext>
                </a:extLst>
              </p:cNvPr>
              <p:cNvSpPr txBox="1"/>
              <p:nvPr/>
            </p:nvSpPr>
            <p:spPr>
              <a:xfrm>
                <a:off x="7302500" y="4583100"/>
                <a:ext cx="2286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600" dirty="0">
                    <a:solidFill>
                      <a:srgbClr val="102033"/>
                    </a:solidFill>
                    <a:latin typeface="Segoe UI"/>
                    <a:cs typeface="Segoe UI"/>
                  </a:rPr>
                  <a:t>оценить результат количественно и визуально</a:t>
                </a:r>
              </a:p>
            </p:txBody>
          </p:sp>
          <p:sp>
            <p:nvSpPr>
              <p:cNvPr id="46" name="Card">
                <a:extLst>
                  <a:ext uri="{FF2B5EF4-FFF2-40B4-BE49-F238E27FC236}">
                    <a16:creationId xmlns:a16="http://schemas.microsoft.com/office/drawing/2014/main" id="{5A4E708C-03D0-43BB-8D76-95EDC8C83F95}"/>
                  </a:ext>
                </a:extLst>
              </p:cNvPr>
              <p:cNvSpPr/>
              <p:nvPr/>
            </p:nvSpPr>
            <p:spPr>
              <a:xfrm>
                <a:off x="2508250" y="4379900"/>
                <a:ext cx="3333750" cy="1116000"/>
              </a:xfrm>
              <a:prstGeom prst="roundRect">
                <a:avLst/>
              </a:prstGeom>
              <a:solidFill>
                <a:srgbClr val="FFFFFF"/>
              </a:solidFill>
              <a:ln w="6350">
                <a:solidFill>
                  <a:srgbClr val="E5EAF1"/>
                </a:solidFill>
              </a:ln>
            </p:spPr>
          </p:sp>
          <p:sp>
            <p:nvSpPr>
              <p:cNvPr id="47" name="Ellipse">
                <a:extLst>
                  <a:ext uri="{FF2B5EF4-FFF2-40B4-BE49-F238E27FC236}">
                    <a16:creationId xmlns:a16="http://schemas.microsoft.com/office/drawing/2014/main" id="{F148D09B-C64B-4EE6-979F-A5DAFDF338B2}"/>
                  </a:ext>
                </a:extLst>
              </p:cNvPr>
              <p:cNvSpPr/>
              <p:nvPr/>
            </p:nvSpPr>
            <p:spPr>
              <a:xfrm>
                <a:off x="2698750" y="4595800"/>
                <a:ext cx="381000" cy="381000"/>
              </a:xfrm>
              <a:prstGeom prst="ellipse">
                <a:avLst/>
              </a:prstGeom>
              <a:solidFill>
                <a:srgbClr val="0E8F87"/>
              </a:solidFill>
              <a:ln>
                <a:noFill/>
              </a:ln>
            </p:spPr>
          </p:sp>
          <p:sp>
            <p:nvSpPr>
              <p:cNvPr id="48" name="Text">
                <a:extLst>
                  <a:ext uri="{FF2B5EF4-FFF2-40B4-BE49-F238E27FC236}">
                    <a16:creationId xmlns:a16="http://schemas.microsoft.com/office/drawing/2014/main" id="{065B7701-0532-401F-A174-81AAD10A5E8D}"/>
                  </a:ext>
                </a:extLst>
              </p:cNvPr>
              <p:cNvSpPr txBox="1"/>
              <p:nvPr/>
            </p:nvSpPr>
            <p:spPr>
              <a:xfrm>
                <a:off x="2813050" y="4697400"/>
                <a:ext cx="152400" cy="17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400" b="1" dirty="0">
                    <a:solidFill>
                      <a:srgbClr val="FFFFFF"/>
                    </a:solidFill>
                    <a:latin typeface="Segoe UI"/>
                    <a:cs typeface="Segoe UI"/>
                  </a:rPr>
                  <a:t>4</a:t>
                </a:r>
              </a:p>
            </p:txBody>
          </p:sp>
          <p:sp>
            <p:nvSpPr>
              <p:cNvPr id="49" name="Text">
                <a:extLst>
                  <a:ext uri="{FF2B5EF4-FFF2-40B4-BE49-F238E27FC236}">
                    <a16:creationId xmlns:a16="http://schemas.microsoft.com/office/drawing/2014/main" id="{E8CA8F80-2C77-4555-A190-BA0B45EA66D5}"/>
                  </a:ext>
                </a:extLst>
              </p:cNvPr>
              <p:cNvSpPr txBox="1"/>
              <p:nvPr/>
            </p:nvSpPr>
            <p:spPr>
              <a:xfrm>
                <a:off x="3238500" y="4583100"/>
                <a:ext cx="2286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600" dirty="0">
                    <a:solidFill>
                      <a:srgbClr val="102033"/>
                    </a:solidFill>
                    <a:latin typeface="Segoe UI"/>
                    <a:cs typeface="Segoe UI"/>
                  </a:rPr>
                  <a:t>провести обучение на ряде </a:t>
                </a:r>
                <a:r>
                  <a:rPr lang="ru-RU" sz="1600" dirty="0" err="1">
                    <a:solidFill>
                      <a:srgbClr val="102033"/>
                    </a:solidFill>
                    <a:latin typeface="Segoe UI"/>
                    <a:cs typeface="Segoe UI"/>
                  </a:rPr>
                  <a:t>датасетов</a:t>
                </a:r>
                <a:endParaRPr lang="ru-RU" sz="1600" dirty="0">
                  <a:solidFill>
                    <a:srgbClr val="102033"/>
                  </a:solidFill>
                  <a:latin typeface="Segoe UI"/>
                  <a:cs typeface="Segoe U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189" name="Text">
            <a:extLst>
              <a:ext uri="{FF2B5EF4-FFF2-40B4-BE49-F238E27FC236}">
                <a16:creationId xmlns:a16="http://schemas.microsoft.com/office/drawing/2014/main" id="{C320D199-963A-451A-A1AC-C596BF581722}"/>
              </a:ext>
            </a:extLst>
          </p:cNvPr>
          <p:cNvSpPr txBox="1"/>
          <p:nvPr/>
        </p:nvSpPr>
        <p:spPr>
          <a:xfrm>
            <a:off x="711200" y="342900"/>
            <a:ext cx="825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rgbClr val="102033"/>
                </a:solidFill>
                <a:latin typeface="Segoe UI"/>
                <a:cs typeface="Segoe UI"/>
              </a:rPr>
              <a:t>Диффузионный процесс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9B8EE8A-8F4D-4FF9-94B3-536ACAE23F8A}"/>
              </a:ext>
            </a:extLst>
          </p:cNvPr>
          <p:cNvSpPr/>
          <p:nvPr/>
        </p:nvSpPr>
        <p:spPr>
          <a:xfrm>
            <a:off x="825500" y="5588000"/>
            <a:ext cx="10541000" cy="476250"/>
          </a:xfrm>
          <a:prstGeom prst="roundRect">
            <a:avLst/>
          </a:prstGeom>
          <a:solidFill>
            <a:srgbClr val="FFF1E9"/>
          </a:solidFill>
          <a:ln w="6350">
            <a:solidFill>
              <a:srgbClr val="F8B599"/>
            </a:solidFill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B77036D-2D0E-4A51-8222-3E3356ED5CD5}"/>
              </a:ext>
            </a:extLst>
          </p:cNvPr>
          <p:cNvSpPr txBox="1"/>
          <p:nvPr/>
        </p:nvSpPr>
        <p:spPr>
          <a:xfrm>
            <a:off x="884938" y="5594350"/>
            <a:ext cx="10420371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ru-RU" sz="1600" b="1" dirty="0">
                <a:solidFill>
                  <a:srgbClr val="E76F51"/>
                </a:solidFill>
                <a:latin typeface="Segoe UI"/>
                <a:cs typeface="Segoe UI"/>
              </a:rPr>
              <a:t>Ключевой момент:   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в стандартной диффузии один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timestep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t применяется ко всем областям изображения</a:t>
            </a:r>
          </a:p>
        </p:txBody>
      </p:sp>
      <p:sp>
        <p:nvSpPr>
          <p:cNvPr id="11" name="Card">
            <a:extLst>
              <a:ext uri="{FF2B5EF4-FFF2-40B4-BE49-F238E27FC236}">
                <a16:creationId xmlns:a16="http://schemas.microsoft.com/office/drawing/2014/main" id="{73CA2A52-C800-4A1A-A84A-9F78F0F02A60}"/>
              </a:ext>
            </a:extLst>
          </p:cNvPr>
          <p:cNvSpPr/>
          <p:nvPr/>
        </p:nvSpPr>
        <p:spPr>
          <a:xfrm>
            <a:off x="2121639" y="1130300"/>
            <a:ext cx="7948723" cy="1448095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0917409-1D41-4CBE-8EF1-DE24303EE1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25" b="8849"/>
          <a:stretch/>
        </p:blipFill>
        <p:spPr>
          <a:xfrm>
            <a:off x="2976489" y="1265824"/>
            <a:ext cx="6239022" cy="1177047"/>
          </a:xfrm>
          <a:prstGeom prst="rect">
            <a:avLst/>
          </a:prstGeom>
        </p:spPr>
      </p:pic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23D3F56D-2091-4741-A329-218DA7BCE76B}"/>
              </a:ext>
            </a:extLst>
          </p:cNvPr>
          <p:cNvGrpSpPr/>
          <p:nvPr/>
        </p:nvGrpSpPr>
        <p:grpSpPr>
          <a:xfrm>
            <a:off x="666750" y="2809564"/>
            <a:ext cx="4762500" cy="2547267"/>
            <a:chOff x="666750" y="2809564"/>
            <a:chExt cx="4762500" cy="2547267"/>
          </a:xfrm>
        </p:grpSpPr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D5D0BA67-FBA9-4A7A-9994-065C554B4224}"/>
                </a:ext>
              </a:extLst>
            </p:cNvPr>
            <p:cNvSpPr/>
            <p:nvPr/>
          </p:nvSpPr>
          <p:spPr>
            <a:xfrm>
              <a:off x="666750" y="2809564"/>
              <a:ext cx="4762500" cy="2547267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DDE6F0"/>
              </a:solidFill>
            </a:ln>
          </p:spPr>
        </p:sp>
        <p:sp>
          <p:nvSpPr>
            <p:cNvPr id="19" name="Shape">
              <a:extLst>
                <a:ext uri="{FF2B5EF4-FFF2-40B4-BE49-F238E27FC236}">
                  <a16:creationId xmlns:a16="http://schemas.microsoft.com/office/drawing/2014/main" id="{FB7C2652-2245-4E59-B2BC-95F92F515DA1}"/>
                </a:ext>
              </a:extLst>
            </p:cNvPr>
            <p:cNvSpPr/>
            <p:nvPr/>
          </p:nvSpPr>
          <p:spPr>
            <a:xfrm>
              <a:off x="884938" y="2950796"/>
              <a:ext cx="3098800" cy="356079"/>
            </a:xfrm>
            <a:prstGeom prst="roundRect">
              <a:avLst/>
            </a:prstGeom>
            <a:solidFill>
              <a:srgbClr val="ECF4FF"/>
            </a:solidFill>
            <a:ln>
              <a:noFill/>
            </a:ln>
          </p:spPr>
        </p:sp>
        <p:sp>
          <p:nvSpPr>
            <p:cNvPr id="20" name="Text">
              <a:extLst>
                <a:ext uri="{FF2B5EF4-FFF2-40B4-BE49-F238E27FC236}">
                  <a16:creationId xmlns:a16="http://schemas.microsoft.com/office/drawing/2014/main" id="{1F7D9F24-EDB6-4E59-A621-F3B8BC2FBC56}"/>
                </a:ext>
              </a:extLst>
            </p:cNvPr>
            <p:cNvSpPr txBox="1"/>
            <p:nvPr/>
          </p:nvSpPr>
          <p:spPr>
            <a:xfrm>
              <a:off x="1011938" y="3007947"/>
              <a:ext cx="2794000" cy="222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b="1" dirty="0">
                  <a:solidFill>
                    <a:srgbClr val="2C69C9"/>
                  </a:solidFill>
                  <a:latin typeface="Segoe UI"/>
                  <a:cs typeface="Segoe UI"/>
                </a:rPr>
                <a:t>1. Прямое зашумление</a:t>
              </a:r>
            </a:p>
          </p:txBody>
        </p:sp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550E01C7-65D1-4E61-B537-AB51E43F6321}"/>
                </a:ext>
              </a:extLst>
            </p:cNvPr>
            <p:cNvSpPr/>
            <p:nvPr/>
          </p:nvSpPr>
          <p:spPr>
            <a:xfrm>
              <a:off x="884938" y="3485023"/>
              <a:ext cx="4037862" cy="473907"/>
            </a:xfrm>
            <a:prstGeom prst="roundRect">
              <a:avLst/>
            </a:prstGeom>
            <a:solidFill>
              <a:srgbClr val="F4F7FB"/>
            </a:solidFill>
            <a:ln w="6350">
              <a:solidFill>
                <a:srgbClr val="E0E7F1"/>
              </a:solidFill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396BF81-F85D-4CF1-9B62-43560223E970}"/>
                    </a:ext>
                  </a:extLst>
                </p:cNvPr>
                <p:cNvSpPr txBox="1"/>
                <p:nvPr/>
              </p:nvSpPr>
              <p:spPr>
                <a:xfrm>
                  <a:off x="1032171" y="3554270"/>
                  <a:ext cx="3743397" cy="3354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396BF81-F85D-4CF1-9B62-43560223E9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171" y="3554270"/>
                  <a:ext cx="3743397" cy="335413"/>
                </a:xfrm>
                <a:prstGeom prst="rect">
                  <a:avLst/>
                </a:prstGeom>
                <a:blipFill>
                  <a:blip r:embed="rId3"/>
                  <a:stretch>
                    <a:fillRect l="-977" r="-1629" b="-25455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">
                  <a:extLst>
                    <a:ext uri="{FF2B5EF4-FFF2-40B4-BE49-F238E27FC236}">
                      <a16:creationId xmlns:a16="http://schemas.microsoft.com/office/drawing/2014/main" id="{169998C2-11E9-4522-A9C9-8E52FBA7CEF9}"/>
                    </a:ext>
                  </a:extLst>
                </p:cNvPr>
                <p:cNvSpPr txBox="1"/>
                <p:nvPr/>
              </p:nvSpPr>
              <p:spPr>
                <a:xfrm>
                  <a:off x="884938" y="4137077"/>
                  <a:ext cx="4044212" cy="8044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/>
                <a:lstStyle/>
                <a:p>
                  <a:pPr algn="just"/>
                  <a:r>
                    <a:rPr lang="en-US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 – </a:t>
                  </a:r>
                  <a:r>
                    <a:rPr lang="ru-RU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Марковская цепь</a:t>
                  </a:r>
                  <a:r>
                    <a:rPr lang="en-US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/>
                            </a:rPr>
                            <m:t>𝛼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"/>
                        </a:rPr>
                        <m:t>, </m:t>
                      </m:r>
                      <m:r>
                        <a:rPr lang="ru-RU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"/>
                        </a:rPr>
                        <m:t> </m:t>
                      </m:r>
                      <m:sSub>
                        <m:sSubPr>
                          <m:ctrlPr>
                            <a:rPr lang="ru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</m:ctrlPr>
                        </m:sSubPr>
                        <m:e>
                          <m:r>
                            <a:rPr lang="ru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/>
                            </a:rPr>
                            <m:t>𝛽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ru-RU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 задают расписание шума и зависит от временного шага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"/>
                        </a:rPr>
                        <m:t>𝑡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 </a:t>
                  </a:r>
                  <a:endParaRPr lang="ru-RU" sz="1600" dirty="0">
                    <a:solidFill>
                      <a:schemeClr val="tx1"/>
                    </a:solidFill>
                    <a:latin typeface="Segoe UI"/>
                    <a:cs typeface="Segoe UI"/>
                  </a:endParaRPr>
                </a:p>
              </p:txBody>
            </p:sp>
          </mc:Choice>
          <mc:Fallback xmlns="">
            <p:sp>
              <p:nvSpPr>
                <p:cNvPr id="30" name="Text">
                  <a:extLst>
                    <a:ext uri="{FF2B5EF4-FFF2-40B4-BE49-F238E27FC236}">
                      <a16:creationId xmlns:a16="http://schemas.microsoft.com/office/drawing/2014/main" id="{169998C2-11E9-4522-A9C9-8E52FBA7C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938" y="4137077"/>
                  <a:ext cx="4044212" cy="804459"/>
                </a:xfrm>
                <a:prstGeom prst="rect">
                  <a:avLst/>
                </a:prstGeom>
                <a:blipFill>
                  <a:blip r:embed="rId4"/>
                  <a:stretch>
                    <a:fillRect l="-3012" t="-9091" r="-3012" b="-530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Shape">
            <a:extLst>
              <a:ext uri="{FF2B5EF4-FFF2-40B4-BE49-F238E27FC236}">
                <a16:creationId xmlns:a16="http://schemas.microsoft.com/office/drawing/2014/main" id="{08436AAC-5CC2-44A8-9BC5-96114E8BA5D8}"/>
              </a:ext>
            </a:extLst>
          </p:cNvPr>
          <p:cNvSpPr/>
          <p:nvPr/>
        </p:nvSpPr>
        <p:spPr>
          <a:xfrm>
            <a:off x="5693735" y="2809564"/>
            <a:ext cx="5831515" cy="2547267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6F0"/>
            </a:solidFill>
          </a:ln>
        </p:spPr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682071FA-7311-4CB0-881E-9892C521E050}"/>
              </a:ext>
            </a:extLst>
          </p:cNvPr>
          <p:cNvGrpSpPr/>
          <p:nvPr/>
        </p:nvGrpSpPr>
        <p:grpSpPr>
          <a:xfrm>
            <a:off x="5912885" y="2950796"/>
            <a:ext cx="4507024" cy="2043904"/>
            <a:chOff x="6045791" y="3128837"/>
            <a:chExt cx="4507024" cy="2043904"/>
          </a:xfrm>
        </p:grpSpPr>
        <p:sp>
          <p:nvSpPr>
            <p:cNvPr id="22" name="Shape">
              <a:extLst>
                <a:ext uri="{FF2B5EF4-FFF2-40B4-BE49-F238E27FC236}">
                  <a16:creationId xmlns:a16="http://schemas.microsoft.com/office/drawing/2014/main" id="{687DA16F-42F2-44EA-A82A-33B86DB123EF}"/>
                </a:ext>
              </a:extLst>
            </p:cNvPr>
            <p:cNvSpPr/>
            <p:nvPr/>
          </p:nvSpPr>
          <p:spPr>
            <a:xfrm>
              <a:off x="6045791" y="3128837"/>
              <a:ext cx="3098800" cy="356078"/>
            </a:xfrm>
            <a:prstGeom prst="roundRect">
              <a:avLst/>
            </a:prstGeom>
            <a:solidFill>
              <a:srgbClr val="E8F7F6"/>
            </a:solidFill>
            <a:ln>
              <a:noFill/>
            </a:ln>
          </p:spPr>
        </p:sp>
        <p:sp>
          <p:nvSpPr>
            <p:cNvPr id="23" name="Text">
              <a:extLst>
                <a:ext uri="{FF2B5EF4-FFF2-40B4-BE49-F238E27FC236}">
                  <a16:creationId xmlns:a16="http://schemas.microsoft.com/office/drawing/2014/main" id="{0FA6D4FE-0415-49C1-8D26-54788686637A}"/>
                </a:ext>
              </a:extLst>
            </p:cNvPr>
            <p:cNvSpPr txBox="1"/>
            <p:nvPr/>
          </p:nvSpPr>
          <p:spPr>
            <a:xfrm>
              <a:off x="6172791" y="3185987"/>
              <a:ext cx="2794000" cy="298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b="1" dirty="0">
                  <a:solidFill>
                    <a:srgbClr val="0E8F87"/>
                  </a:solidFill>
                  <a:latin typeface="Segoe UI"/>
                  <a:cs typeface="Segoe UI"/>
                </a:rPr>
                <a:t>2. Обратный процесс</a:t>
              </a:r>
            </a:p>
          </p:txBody>
        </p: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C3D1F9A1-1367-48AA-BD30-E77E5C8B8439}"/>
                </a:ext>
              </a:extLst>
            </p:cNvPr>
            <p:cNvGrpSpPr/>
            <p:nvPr/>
          </p:nvGrpSpPr>
          <p:grpSpPr>
            <a:xfrm>
              <a:off x="6045791" y="3663063"/>
              <a:ext cx="4507024" cy="1509678"/>
              <a:chOff x="6045791" y="3663063"/>
              <a:chExt cx="4507024" cy="1509678"/>
            </a:xfrm>
          </p:grpSpPr>
          <p:sp>
            <p:nvSpPr>
              <p:cNvPr id="36" name="Shape">
                <a:extLst>
                  <a:ext uri="{FF2B5EF4-FFF2-40B4-BE49-F238E27FC236}">
                    <a16:creationId xmlns:a16="http://schemas.microsoft.com/office/drawing/2014/main" id="{9C951A6F-FE5F-4B77-A1CA-A6E6671CCADC}"/>
                  </a:ext>
                </a:extLst>
              </p:cNvPr>
              <p:cNvSpPr/>
              <p:nvPr/>
            </p:nvSpPr>
            <p:spPr>
              <a:xfrm>
                <a:off x="6045791" y="3663063"/>
                <a:ext cx="4507024" cy="473907"/>
              </a:xfrm>
              <a:prstGeom prst="roundRect">
                <a:avLst/>
              </a:prstGeom>
              <a:solidFill>
                <a:srgbClr val="F4F7FB"/>
              </a:solidFill>
              <a:ln w="6350">
                <a:solidFill>
                  <a:srgbClr val="E0E7F1"/>
                </a:solidFill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0663FEDB-7B5B-427C-A5EA-F32D17E841A5}"/>
                      </a:ext>
                    </a:extLst>
                  </p:cNvPr>
                  <p:cNvSpPr txBox="1"/>
                  <p:nvPr/>
                </p:nvSpPr>
                <p:spPr>
                  <a:xfrm>
                    <a:off x="6159711" y="3761517"/>
                    <a:ext cx="427918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𝒩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0663FEDB-7B5B-427C-A5EA-F32D17E841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59711" y="3761517"/>
                    <a:ext cx="4279185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712" r="-1425" b="-37778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8" name="Shape">
                <a:extLst>
                  <a:ext uri="{FF2B5EF4-FFF2-40B4-BE49-F238E27FC236}">
                    <a16:creationId xmlns:a16="http://schemas.microsoft.com/office/drawing/2014/main" id="{42CD1D44-1039-4CB1-AAC6-0F5ED7712AFC}"/>
                  </a:ext>
                </a:extLst>
              </p:cNvPr>
              <p:cNvSpPr/>
              <p:nvPr/>
            </p:nvSpPr>
            <p:spPr>
              <a:xfrm>
                <a:off x="6045791" y="4315193"/>
                <a:ext cx="4507024" cy="857548"/>
              </a:xfrm>
              <a:prstGeom prst="roundRect">
                <a:avLst/>
              </a:prstGeom>
              <a:solidFill>
                <a:srgbClr val="F4F7FB"/>
              </a:solidFill>
              <a:ln w="6350">
                <a:solidFill>
                  <a:srgbClr val="E0E7F1"/>
                </a:solidFill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7130563-1B63-4A1A-9ED1-6CE2DD114989}"/>
                      </a:ext>
                    </a:extLst>
                  </p:cNvPr>
                  <p:cNvSpPr txBox="1"/>
                  <p:nvPr/>
                </p:nvSpPr>
                <p:spPr>
                  <a:xfrm>
                    <a:off x="6141950" y="4422821"/>
                    <a:ext cx="4314707" cy="64229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oMath>
                      </m:oMathPara>
                    </a14:m>
                    <a:endParaRPr lang="ru-RU" dirty="0"/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17130563-1B63-4A1A-9ED1-6CE2DD114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1950" y="4422821"/>
                    <a:ext cx="4314707" cy="64229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5" name="Text">
            <a:extLst>
              <a:ext uri="{FF2B5EF4-FFF2-40B4-BE49-F238E27FC236}">
                <a16:creationId xmlns:a16="http://schemas.microsoft.com/office/drawing/2014/main" id="{F0D2753F-A8F7-461D-8D70-337CEAD73A58}"/>
              </a:ext>
            </a:extLst>
          </p:cNvPr>
          <p:cNvSpPr txBox="1"/>
          <p:nvPr/>
        </p:nvSpPr>
        <p:spPr>
          <a:xfrm>
            <a:off x="7292052" y="5035146"/>
            <a:ext cx="2178641" cy="4107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just"/>
            <a:r>
              <a:rPr lang="ru-RU" sz="1600" dirty="0">
                <a:solidFill>
                  <a:srgbClr val="2C69C9"/>
                </a:solidFill>
                <a:latin typeface="Segoe UI"/>
                <a:cs typeface="Segoe UI"/>
              </a:rPr>
              <a:t>диффузионная модель</a:t>
            </a:r>
          </a:p>
        </p:txBody>
      </p:sp>
      <p:sp>
        <p:nvSpPr>
          <p:cNvPr id="51" name="Полилиния: фигура 50">
            <a:extLst>
              <a:ext uri="{FF2B5EF4-FFF2-40B4-BE49-F238E27FC236}">
                <a16:creationId xmlns:a16="http://schemas.microsoft.com/office/drawing/2014/main" id="{717DA2BF-2324-4AE4-BBCA-97B99018C8AC}"/>
              </a:ext>
            </a:extLst>
          </p:cNvPr>
          <p:cNvSpPr/>
          <p:nvPr/>
        </p:nvSpPr>
        <p:spPr>
          <a:xfrm>
            <a:off x="9367283" y="4699591"/>
            <a:ext cx="242099" cy="483964"/>
          </a:xfrm>
          <a:custGeom>
            <a:avLst/>
            <a:gdLst>
              <a:gd name="connsiteX0" fmla="*/ 122275 w 384751"/>
              <a:gd name="connsiteY0" fmla="*/ 478465 h 478465"/>
              <a:gd name="connsiteX1" fmla="*/ 382772 w 384751"/>
              <a:gd name="connsiteY1" fmla="*/ 233916 h 478465"/>
              <a:gd name="connsiteX2" fmla="*/ 0 w 384751"/>
              <a:gd name="connsiteY2" fmla="*/ 0 h 478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4751" h="478465">
                <a:moveTo>
                  <a:pt x="122275" y="478465"/>
                </a:moveTo>
                <a:cubicBezTo>
                  <a:pt x="262713" y="396062"/>
                  <a:pt x="403151" y="313660"/>
                  <a:pt x="382772" y="233916"/>
                </a:cubicBezTo>
                <a:cubicBezTo>
                  <a:pt x="362393" y="154172"/>
                  <a:pt x="181196" y="77086"/>
                  <a:pt x="0" y="0"/>
                </a:cubicBezTo>
              </a:path>
            </a:pathLst>
          </a:custGeom>
          <a:ln w="19050" cap="flat" cmpd="sng" algn="ctr">
            <a:solidFill>
              <a:srgbClr val="2C69C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14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711200" y="342900"/>
            <a:ext cx="825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rgbClr val="102033"/>
                </a:solidFill>
                <a:latin typeface="Segoe UI"/>
                <a:cs typeface="Segoe UI"/>
              </a:rPr>
              <a:t>Метод </a:t>
            </a:r>
            <a:r>
              <a:rPr lang="ru-RU" sz="3000" b="1" dirty="0" err="1">
                <a:solidFill>
                  <a:srgbClr val="102033"/>
                </a:solidFill>
                <a:latin typeface="Segoe UI"/>
                <a:cs typeface="Segoe UI"/>
              </a:rPr>
              <a:t>AsynDM</a:t>
            </a:r>
            <a:endParaRPr lang="ru-RU" sz="3000" b="1" dirty="0">
              <a:solidFill>
                <a:srgbClr val="102033"/>
              </a:solidFill>
              <a:latin typeface="Segoe UI"/>
              <a:cs typeface="Segoe UI"/>
            </a:endParaRPr>
          </a:p>
        </p:txBody>
      </p:sp>
      <p:sp>
        <p:nvSpPr>
          <p:cNvPr id="9" name="Card"/>
          <p:cNvSpPr/>
          <p:nvPr/>
        </p:nvSpPr>
        <p:spPr>
          <a:xfrm>
            <a:off x="571500" y="1460500"/>
            <a:ext cx="3856960" cy="483929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825500" y="1714500"/>
            <a:ext cx="19050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Идея метода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054099" y="2194210"/>
            <a:ext cx="3124496" cy="27368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по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cross-attention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строится маска областей, связанных с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промптом</a:t>
            </a:r>
            <a:endParaRPr lang="ru-RU" sz="1600" dirty="0">
              <a:solidFill>
                <a:srgbClr val="102033"/>
              </a:solidFill>
              <a:latin typeface="Segoe UI"/>
              <a:cs typeface="Segoe UI"/>
            </a:endParaRPr>
          </a:p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релевантные области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расшумляются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медленнее</a:t>
            </a:r>
          </a:p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фон очищается быстрее и дает объектам более чистый контекст</a:t>
            </a:r>
          </a:p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качество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alignment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может улучшаться без переобучения модели</a:t>
            </a:r>
          </a:p>
        </p:txBody>
      </p:sp>
      <p:sp>
        <p:nvSpPr>
          <p:cNvPr id="22" name="Card"/>
          <p:cNvSpPr/>
          <p:nvPr/>
        </p:nvSpPr>
        <p:spPr>
          <a:xfrm>
            <a:off x="4911059" y="1460499"/>
            <a:ext cx="6709441" cy="478612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pic>
        <p:nvPicPr>
          <p:cNvPr id="23" name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075" y="2258591"/>
            <a:ext cx="6257408" cy="3189944"/>
          </a:xfrm>
          <a:prstGeom prst="rect">
            <a:avLst/>
          </a:prstGeom>
        </p:spPr>
      </p:pic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5006EEAB-29A0-4F88-A4B7-CE1F22B06E10}"/>
              </a:ext>
            </a:extLst>
          </p:cNvPr>
          <p:cNvGrpSpPr/>
          <p:nvPr/>
        </p:nvGrpSpPr>
        <p:grpSpPr>
          <a:xfrm>
            <a:off x="825503" y="4660098"/>
            <a:ext cx="3353092" cy="1369829"/>
            <a:chOff x="825500" y="4635500"/>
            <a:chExt cx="3353092" cy="1303085"/>
          </a:xfrm>
        </p:grpSpPr>
        <p:sp>
          <p:nvSpPr>
            <p:cNvPr id="25" name="Shape">
              <a:extLst>
                <a:ext uri="{FF2B5EF4-FFF2-40B4-BE49-F238E27FC236}">
                  <a16:creationId xmlns:a16="http://schemas.microsoft.com/office/drawing/2014/main" id="{F2C59B10-5160-485E-8548-F8B1A0E683BD}"/>
                </a:ext>
              </a:extLst>
            </p:cNvPr>
            <p:cNvSpPr/>
            <p:nvPr/>
          </p:nvSpPr>
          <p:spPr>
            <a:xfrm>
              <a:off x="825500" y="4635500"/>
              <a:ext cx="3353092" cy="1303085"/>
            </a:xfrm>
            <a:prstGeom prst="roundRect">
              <a:avLst/>
            </a:prstGeom>
            <a:solidFill>
              <a:srgbClr val="FFF1E9"/>
            </a:solidFill>
            <a:ln w="6350">
              <a:solidFill>
                <a:srgbClr val="F8B599"/>
              </a:solidFill>
            </a:ln>
          </p:spPr>
        </p:sp>
        <p:sp>
          <p:nvSpPr>
            <p:cNvPr id="26" name="Text">
              <a:extLst>
                <a:ext uri="{FF2B5EF4-FFF2-40B4-BE49-F238E27FC236}">
                  <a16:creationId xmlns:a16="http://schemas.microsoft.com/office/drawing/2014/main" id="{86A9144A-566F-4ABB-BABA-71EDEC57B732}"/>
                </a:ext>
              </a:extLst>
            </p:cNvPr>
            <p:cNvSpPr txBox="1"/>
            <p:nvPr/>
          </p:nvSpPr>
          <p:spPr>
            <a:xfrm>
              <a:off x="1016000" y="4762500"/>
              <a:ext cx="1524000" cy="165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b="1" dirty="0">
                  <a:solidFill>
                    <a:srgbClr val="E76F51"/>
                  </a:solidFill>
                  <a:latin typeface="Segoe UI"/>
                  <a:cs typeface="Segoe UI"/>
                </a:rPr>
                <a:t>Ограничение</a:t>
              </a:r>
            </a:p>
          </p:txBody>
        </p:sp>
        <p:sp>
          <p:nvSpPr>
            <p:cNvPr id="27" name="Text">
              <a:extLst>
                <a:ext uri="{FF2B5EF4-FFF2-40B4-BE49-F238E27FC236}">
                  <a16:creationId xmlns:a16="http://schemas.microsoft.com/office/drawing/2014/main" id="{120C7C30-41BB-4A7D-984D-42B55568486E}"/>
                </a:ext>
              </a:extLst>
            </p:cNvPr>
            <p:cNvSpPr txBox="1"/>
            <p:nvPr/>
          </p:nvSpPr>
          <p:spPr>
            <a:xfrm>
              <a:off x="1016000" y="5073650"/>
              <a:ext cx="3008423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just"/>
              <a:r>
                <a:rPr lang="en-US" sz="1600" dirty="0">
                  <a:solidFill>
                    <a:srgbClr val="102033"/>
                  </a:solidFill>
                  <a:latin typeface="Segoe UI"/>
                  <a:cs typeface="Segoe UI"/>
                </a:rPr>
                <a:t>train-inference gap: 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модель обучалась синхронно, но применяется асинхронно</a:t>
              </a:r>
            </a:p>
          </p:txBody>
        </p:sp>
      </p:grpSp>
      <p:sp>
        <p:nvSpPr>
          <p:cNvPr id="29" name="Ellipse">
            <a:extLst>
              <a:ext uri="{FF2B5EF4-FFF2-40B4-BE49-F238E27FC236}">
                <a16:creationId xmlns:a16="http://schemas.microsoft.com/office/drawing/2014/main" id="{C6337F7D-D735-4A9C-BA3C-A17683242495}"/>
              </a:ext>
            </a:extLst>
          </p:cNvPr>
          <p:cNvSpPr/>
          <p:nvPr/>
        </p:nvSpPr>
        <p:spPr>
          <a:xfrm>
            <a:off x="889000" y="2305056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30" name="Ellipse">
            <a:extLst>
              <a:ext uri="{FF2B5EF4-FFF2-40B4-BE49-F238E27FC236}">
                <a16:creationId xmlns:a16="http://schemas.microsoft.com/office/drawing/2014/main" id="{D3E23FDD-E9F9-4063-9DAB-B3A5DA04A518}"/>
              </a:ext>
            </a:extLst>
          </p:cNvPr>
          <p:cNvSpPr/>
          <p:nvPr/>
        </p:nvSpPr>
        <p:spPr>
          <a:xfrm>
            <a:off x="889000" y="2845602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31" name="Ellipse">
            <a:extLst>
              <a:ext uri="{FF2B5EF4-FFF2-40B4-BE49-F238E27FC236}">
                <a16:creationId xmlns:a16="http://schemas.microsoft.com/office/drawing/2014/main" id="{3E6D6E84-BC9A-44FE-986E-1648BD599C54}"/>
              </a:ext>
            </a:extLst>
          </p:cNvPr>
          <p:cNvSpPr/>
          <p:nvPr/>
        </p:nvSpPr>
        <p:spPr>
          <a:xfrm>
            <a:off x="888144" y="3384550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32" name="Ellipse">
            <a:extLst>
              <a:ext uri="{FF2B5EF4-FFF2-40B4-BE49-F238E27FC236}">
                <a16:creationId xmlns:a16="http://schemas.microsoft.com/office/drawing/2014/main" id="{991C74AB-0A25-4AF3-89CB-669C893E25A1}"/>
              </a:ext>
            </a:extLst>
          </p:cNvPr>
          <p:cNvSpPr/>
          <p:nvPr/>
        </p:nvSpPr>
        <p:spPr>
          <a:xfrm>
            <a:off x="888144" y="3923498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784593B-A989-4E87-B4F7-3C729CAF6864}"/>
              </a:ext>
            </a:extLst>
          </p:cNvPr>
          <p:cNvSpPr txBox="1"/>
          <p:nvPr/>
        </p:nvSpPr>
        <p:spPr>
          <a:xfrm>
            <a:off x="825503" y="1714500"/>
            <a:ext cx="19050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Идея метода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ckground">
            <a:extLst>
              <a:ext uri="{FF2B5EF4-FFF2-40B4-BE49-F238E27FC236}">
                <a16:creationId xmlns:a16="http://schemas.microsoft.com/office/drawing/2014/main" id="{EF581F4B-A5EA-4A49-B7E5-29E5886154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711200" y="342900"/>
            <a:ext cx="10713484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rgbClr val="102033"/>
                </a:solidFill>
                <a:latin typeface="Segoe UI"/>
                <a:cs typeface="Segoe UI"/>
              </a:rPr>
              <a:t>Идея работы: асинхронное обучение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A285B59-2B0F-44B9-A0A1-2EE28F7C9905}"/>
              </a:ext>
            </a:extLst>
          </p:cNvPr>
          <p:cNvGrpSpPr/>
          <p:nvPr/>
        </p:nvGrpSpPr>
        <p:grpSpPr>
          <a:xfrm>
            <a:off x="5880097" y="4860466"/>
            <a:ext cx="5461000" cy="1279119"/>
            <a:chOff x="5905500" y="4914346"/>
            <a:chExt cx="5461000" cy="1279119"/>
          </a:xfrm>
        </p:grpSpPr>
        <p:sp>
          <p:nvSpPr>
            <p:cNvPr id="133" name="Shape"/>
            <p:cNvSpPr/>
            <p:nvPr/>
          </p:nvSpPr>
          <p:spPr>
            <a:xfrm>
              <a:off x="5905500" y="4914346"/>
              <a:ext cx="5461000" cy="1279119"/>
            </a:xfrm>
            <a:prstGeom prst="roundRect">
              <a:avLst/>
            </a:prstGeom>
            <a:solidFill>
              <a:srgbClr val="E8F7F6"/>
            </a:solidFill>
            <a:ln w="6350">
              <a:solidFill>
                <a:srgbClr val="B5E2DE"/>
              </a:solidFill>
            </a:ln>
          </p:spPr>
        </p:sp>
        <p:grpSp>
          <p:nvGrpSpPr>
            <p:cNvPr id="141" name="Группа 140">
              <a:extLst>
                <a:ext uri="{FF2B5EF4-FFF2-40B4-BE49-F238E27FC236}">
                  <a16:creationId xmlns:a16="http://schemas.microsoft.com/office/drawing/2014/main" id="{C32B0499-7180-4678-AAD6-342AB250BEF7}"/>
                </a:ext>
              </a:extLst>
            </p:cNvPr>
            <p:cNvGrpSpPr/>
            <p:nvPr/>
          </p:nvGrpSpPr>
          <p:grpSpPr>
            <a:xfrm>
              <a:off x="6159500" y="4981575"/>
              <a:ext cx="4953000" cy="1109997"/>
              <a:chOff x="6191250" y="4508500"/>
              <a:chExt cx="4953000" cy="1109997"/>
            </a:xfrm>
          </p:grpSpPr>
          <p:sp>
            <p:nvSpPr>
              <p:cNvPr id="134" name="Text"/>
              <p:cNvSpPr txBox="1"/>
              <p:nvPr/>
            </p:nvSpPr>
            <p:spPr>
              <a:xfrm>
                <a:off x="6191250" y="4508500"/>
                <a:ext cx="4953000" cy="254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l"/>
                <a:r>
                  <a:rPr lang="ru-RU" sz="1600" b="1" dirty="0">
                    <a:solidFill>
                      <a:srgbClr val="102033"/>
                    </a:solidFill>
                    <a:latin typeface="Segoe UI"/>
                    <a:cs typeface="Segoe UI"/>
                  </a:rPr>
                  <a:t>Формула смешивания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Text"/>
                  <p:cNvSpPr txBox="1"/>
                  <p:nvPr/>
                </p:nvSpPr>
                <p:spPr>
                  <a:xfrm>
                    <a:off x="6486525" y="4870155"/>
                    <a:ext cx="4362450" cy="38679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t"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0E8F87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=</m:t>
                          </m:r>
                          <m:r>
                            <a:rPr lang="en-US" b="1" i="1" smtClean="0">
                              <a:solidFill>
                                <a:srgbClr val="0E8F87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𝑴</m:t>
                          </m:r>
                          <m:r>
                            <a:rPr lang="en-US" b="1" i="1" smtClean="0">
                              <a:solidFill>
                                <a:srgbClr val="0E8F87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⊙</m:t>
                          </m:r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  <m:t>𝒄𝒐𝒏𝒄</m:t>
                              </m:r>
                            </m:sup>
                          </m:sSubSup>
                          <m:r>
                            <a:rPr lang="en-US" b="1" i="1" smtClean="0">
                              <a:solidFill>
                                <a:srgbClr val="0E8F87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+(</m:t>
                          </m:r>
                          <m:r>
                            <a:rPr lang="en-US" b="1" i="1" smtClean="0">
                              <a:solidFill>
                                <a:srgbClr val="0E8F87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0E8F87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rgbClr val="0E8F87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𝑴</m:t>
                          </m:r>
                          <m:r>
                            <a:rPr lang="en-US" b="1" i="1" smtClean="0">
                              <a:solidFill>
                                <a:srgbClr val="0E8F87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)⊙</m:t>
                          </m:r>
                          <m:sSubSup>
                            <m:sSubSupPr>
                              <m:ctrlP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</m:ctrlPr>
                            </m:sSubSupPr>
                            <m:e>
                              <m: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  <m:t>𝒊</m:t>
                              </m:r>
                            </m:sub>
                            <m:sup>
                              <m:r>
                                <a:rPr lang="en-US" b="1" i="1" smtClean="0">
                                  <a:solidFill>
                                    <a:srgbClr val="0E8F87"/>
                                  </a:solidFill>
                                  <a:latin typeface="Cambria Math" panose="02040503050406030204" pitchFamily="18" charset="0"/>
                                  <a:cs typeface="Segoe UI"/>
                                </a:rPr>
                                <m:t>𝒍𝒊𝒏</m:t>
                              </m:r>
                            </m:sup>
                          </m:sSubSup>
                        </m:oMath>
                      </m:oMathPara>
                    </a14:m>
                    <a:endParaRPr lang="ru-RU" b="1" dirty="0">
                      <a:solidFill>
                        <a:srgbClr val="0E8F87"/>
                      </a:solidFill>
                      <a:latin typeface="Segoe UI"/>
                      <a:cs typeface="Segoe UI"/>
                    </a:endParaRPr>
                  </a:p>
                </p:txBody>
              </p:sp>
            </mc:Choice>
            <mc:Fallback xmlns="">
              <p:sp>
                <p:nvSpPr>
                  <p:cNvPr id="135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6525" y="4870155"/>
                    <a:ext cx="4362450" cy="38679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3175" b="-476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Text"/>
                  <p:cNvSpPr txBox="1"/>
                  <p:nvPr/>
                </p:nvSpPr>
                <p:spPr>
                  <a:xfrm>
                    <a:off x="6419850" y="5321080"/>
                    <a:ext cx="4343400" cy="29741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t"/>
                  <a:lstStyle/>
                  <a:p>
                    <a:pPr algn="l"/>
                    <a14:m>
                      <m:oMath xmlns:m="http://schemas.openxmlformats.org/officeDocument/2006/math"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/>
                          </a:rPr>
                          <m:t>𝑀</m:t>
                        </m:r>
                      </m:oMath>
                    </a14:m>
                    <a:r>
                      <a:rPr lang="ru-RU" sz="1600" dirty="0">
                        <a:solidFill>
                          <a:schemeClr val="tx1"/>
                        </a:solidFill>
                        <a:latin typeface="Segoe UI"/>
                        <a:cs typeface="Segoe UI"/>
                      </a:rPr>
                      <a:t> </a:t>
                    </a:r>
                    <a:r>
                      <a:rPr lang="en-US" sz="1600" dirty="0">
                        <a:solidFill>
                          <a:schemeClr val="tx1"/>
                        </a:solidFill>
                        <a:latin typeface="Segoe UI"/>
                        <a:cs typeface="Segoe UI"/>
                      </a:rPr>
                      <a:t>- </a:t>
                    </a:r>
                    <a:r>
                      <a:rPr lang="ru-RU" sz="1600" dirty="0">
                        <a:solidFill>
                          <a:schemeClr val="tx1"/>
                        </a:solidFill>
                        <a:latin typeface="Segoe UI"/>
                        <a:cs typeface="Segoe UI"/>
                      </a:rPr>
                      <a:t>маска релевантности </a:t>
                    </a:r>
                    <a:r>
                      <a:rPr lang="ru-RU" sz="1600" dirty="0" err="1">
                        <a:solidFill>
                          <a:schemeClr val="tx1"/>
                        </a:solidFill>
                        <a:latin typeface="Segoe UI"/>
                        <a:cs typeface="Segoe UI"/>
                      </a:rPr>
                      <a:t>промпту</a:t>
                    </a:r>
                    <a:endParaRPr lang="ru-RU" sz="1600" dirty="0">
                      <a:solidFill>
                        <a:schemeClr val="tx1"/>
                      </a:solidFill>
                      <a:latin typeface="Segoe UI"/>
                      <a:cs typeface="Segoe UI"/>
                    </a:endParaRPr>
                  </a:p>
                </p:txBody>
              </p:sp>
            </mc:Choice>
            <mc:Fallback xmlns="">
              <p:sp>
                <p:nvSpPr>
                  <p:cNvPr id="136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19850" y="5321080"/>
                    <a:ext cx="4343400" cy="29741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685" t="-25000" b="-2291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938AFD3-FCE7-4F94-ACF7-74AECAB8EF1B}"/>
              </a:ext>
            </a:extLst>
          </p:cNvPr>
          <p:cNvGrpSpPr/>
          <p:nvPr/>
        </p:nvGrpSpPr>
        <p:grpSpPr>
          <a:xfrm>
            <a:off x="5880097" y="1460499"/>
            <a:ext cx="5461000" cy="2933700"/>
            <a:chOff x="5905500" y="1524000"/>
            <a:chExt cx="5461000" cy="2933700"/>
          </a:xfrm>
        </p:grpSpPr>
        <p:sp>
          <p:nvSpPr>
            <p:cNvPr id="93" name="Card"/>
            <p:cNvSpPr/>
            <p:nvPr/>
          </p:nvSpPr>
          <p:spPr>
            <a:xfrm>
              <a:off x="5905500" y="1524000"/>
              <a:ext cx="5461000" cy="293370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AF1"/>
              </a:solidFill>
            </a:ln>
          </p:spPr>
        </p:sp>
        <p:sp>
          <p:nvSpPr>
            <p:cNvPr id="94" name="Text"/>
            <p:cNvSpPr txBox="1"/>
            <p:nvPr/>
          </p:nvSpPr>
          <p:spPr>
            <a:xfrm>
              <a:off x="6178550" y="1682750"/>
              <a:ext cx="4914900" cy="292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b="1" dirty="0">
                  <a:solidFill>
                    <a:srgbClr val="102033"/>
                  </a:solidFill>
                  <a:latin typeface="Segoe UI"/>
                  <a:cs typeface="Segoe UI"/>
                </a:rPr>
                <a:t>Расписание </a:t>
              </a:r>
              <a:r>
                <a:rPr lang="ru-RU" sz="1600" b="1" dirty="0" err="1">
                  <a:solidFill>
                    <a:srgbClr val="102033"/>
                  </a:solidFill>
                  <a:latin typeface="Segoe UI"/>
                  <a:cs typeface="Segoe UI"/>
                </a:rPr>
                <a:t>timestep</a:t>
              </a:r>
              <a:endParaRPr lang="ru-RU" sz="1600" b="1" dirty="0">
                <a:solidFill>
                  <a:srgbClr val="102033"/>
                </a:solidFill>
                <a:latin typeface="Segoe UI"/>
                <a:cs typeface="Segoe UI"/>
              </a:endParaRPr>
            </a:p>
          </p:txBody>
        </p:sp>
        <p:pic>
          <p:nvPicPr>
            <p:cNvPr id="150" name="Рисунок 149">
              <a:extLst>
                <a:ext uri="{FF2B5EF4-FFF2-40B4-BE49-F238E27FC236}">
                  <a16:creationId xmlns:a16="http://schemas.microsoft.com/office/drawing/2014/main" id="{92D673E4-DCD4-4AD2-8789-9BD54249B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1087" y="1974850"/>
              <a:ext cx="4349827" cy="2392405"/>
            </a:xfrm>
            <a:prstGeom prst="rect">
              <a:avLst/>
            </a:prstGeom>
          </p:spPr>
        </p:pic>
      </p:grpSp>
      <p:sp>
        <p:nvSpPr>
          <p:cNvPr id="102" name="Shape">
            <a:extLst>
              <a:ext uri="{FF2B5EF4-FFF2-40B4-BE49-F238E27FC236}">
                <a16:creationId xmlns:a16="http://schemas.microsoft.com/office/drawing/2014/main" id="{1F0DAFEC-13DE-4B2B-B64E-85A70B401F04}"/>
              </a:ext>
            </a:extLst>
          </p:cNvPr>
          <p:cNvSpPr/>
          <p:nvPr/>
        </p:nvSpPr>
        <p:spPr>
          <a:xfrm>
            <a:off x="558799" y="1460499"/>
            <a:ext cx="4762499" cy="1681421"/>
          </a:xfrm>
          <a:prstGeom prst="roundRect">
            <a:avLst/>
          </a:prstGeom>
          <a:solidFill>
            <a:srgbClr val="E8F7F6"/>
          </a:solidFill>
          <a:ln w="6350">
            <a:solidFill>
              <a:srgbClr val="B5E2DE"/>
            </a:solidFill>
          </a:ln>
        </p:spPr>
      </p:sp>
      <p:sp>
        <p:nvSpPr>
          <p:cNvPr id="106" name="Text">
            <a:extLst>
              <a:ext uri="{FF2B5EF4-FFF2-40B4-BE49-F238E27FC236}">
                <a16:creationId xmlns:a16="http://schemas.microsoft.com/office/drawing/2014/main" id="{7CBF9C03-0C2E-42AE-8FA6-C65277110C91}"/>
              </a:ext>
            </a:extLst>
          </p:cNvPr>
          <p:cNvSpPr txBox="1"/>
          <p:nvPr/>
        </p:nvSpPr>
        <p:spPr>
          <a:xfrm>
            <a:off x="825503" y="1714500"/>
            <a:ext cx="19050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0E8F87"/>
                </a:solidFill>
                <a:latin typeface="Segoe UI"/>
                <a:cs typeface="Segoe UI"/>
              </a:rPr>
              <a:t>Главная идея</a:t>
            </a:r>
          </a:p>
        </p:txBody>
      </p:sp>
      <p:sp>
        <p:nvSpPr>
          <p:cNvPr id="107" name="Text">
            <a:extLst>
              <a:ext uri="{FF2B5EF4-FFF2-40B4-BE49-F238E27FC236}">
                <a16:creationId xmlns:a16="http://schemas.microsoft.com/office/drawing/2014/main" id="{1B56193F-E449-432A-821D-6F754EA8B121}"/>
              </a:ext>
            </a:extLst>
          </p:cNvPr>
          <p:cNvSpPr txBox="1"/>
          <p:nvPr/>
        </p:nvSpPr>
        <p:spPr>
          <a:xfrm>
            <a:off x="825500" y="2194211"/>
            <a:ext cx="4254499" cy="84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just"/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Добавить асинхронность уже на этапе обучения, </a:t>
            </a:r>
            <a:r>
              <a:rPr lang="en-US" sz="1600" dirty="0">
                <a:solidFill>
                  <a:srgbClr val="102033"/>
                </a:solidFill>
                <a:latin typeface="Segoe UI"/>
                <a:cs typeface="Segoe UI"/>
              </a:rPr>
              <a:t>fine-tuning 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с пространственно-зависимым зашумлением.</a:t>
            </a:r>
          </a:p>
        </p:txBody>
      </p: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972B8998-225E-4DDB-9284-3D4E83358B12}"/>
              </a:ext>
            </a:extLst>
          </p:cNvPr>
          <p:cNvGrpSpPr/>
          <p:nvPr/>
        </p:nvGrpSpPr>
        <p:grpSpPr>
          <a:xfrm>
            <a:off x="561975" y="3586833"/>
            <a:ext cx="4762500" cy="2547267"/>
            <a:chOff x="666750" y="2809564"/>
            <a:chExt cx="4762500" cy="2547267"/>
          </a:xfrm>
        </p:grpSpPr>
        <p:sp>
          <p:nvSpPr>
            <p:cNvPr id="109" name="Shape">
              <a:extLst>
                <a:ext uri="{FF2B5EF4-FFF2-40B4-BE49-F238E27FC236}">
                  <a16:creationId xmlns:a16="http://schemas.microsoft.com/office/drawing/2014/main" id="{D39B4445-7808-4E93-894D-14FFDAF54A34}"/>
                </a:ext>
              </a:extLst>
            </p:cNvPr>
            <p:cNvSpPr/>
            <p:nvPr/>
          </p:nvSpPr>
          <p:spPr>
            <a:xfrm>
              <a:off x="666750" y="2809564"/>
              <a:ext cx="4762500" cy="2547267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DDE6F0"/>
              </a:solidFill>
            </a:ln>
          </p:spPr>
        </p:sp>
        <p:sp>
          <p:nvSpPr>
            <p:cNvPr id="111" name="Text">
              <a:extLst>
                <a:ext uri="{FF2B5EF4-FFF2-40B4-BE49-F238E27FC236}">
                  <a16:creationId xmlns:a16="http://schemas.microsoft.com/office/drawing/2014/main" id="{05FD54C5-FC3E-44B8-A345-3D7FEA87FC0A}"/>
                </a:ext>
              </a:extLst>
            </p:cNvPr>
            <p:cNvSpPr txBox="1"/>
            <p:nvPr/>
          </p:nvSpPr>
          <p:spPr>
            <a:xfrm>
              <a:off x="1011938" y="3007947"/>
              <a:ext cx="2794000" cy="2222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b="1" dirty="0">
                  <a:solidFill>
                    <a:schemeClr val="tx1"/>
                  </a:solidFill>
                  <a:latin typeface="Segoe UI"/>
                  <a:cs typeface="Segoe UI"/>
                </a:rPr>
                <a:t>Прямое зашумление</a:t>
              </a:r>
            </a:p>
          </p:txBody>
        </p:sp>
        <p:sp>
          <p:nvSpPr>
            <p:cNvPr id="112" name="Shape">
              <a:extLst>
                <a:ext uri="{FF2B5EF4-FFF2-40B4-BE49-F238E27FC236}">
                  <a16:creationId xmlns:a16="http://schemas.microsoft.com/office/drawing/2014/main" id="{CD4437B4-C0E1-44F0-A883-767D8D3832EC}"/>
                </a:ext>
              </a:extLst>
            </p:cNvPr>
            <p:cNvSpPr/>
            <p:nvPr/>
          </p:nvSpPr>
          <p:spPr>
            <a:xfrm>
              <a:off x="873108" y="3485023"/>
              <a:ext cx="4349784" cy="700233"/>
            </a:xfrm>
            <a:prstGeom prst="roundRect">
              <a:avLst/>
            </a:prstGeom>
            <a:solidFill>
              <a:srgbClr val="F4F7FB"/>
            </a:solidFill>
            <a:ln w="6350">
              <a:solidFill>
                <a:srgbClr val="E0E7F1"/>
              </a:solidFill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9AD2CA86-3E94-4282-93CE-3D4842BC09ED}"/>
                    </a:ext>
                  </a:extLst>
                </p:cNvPr>
                <p:cNvSpPr txBox="1"/>
                <p:nvPr/>
              </p:nvSpPr>
              <p:spPr>
                <a:xfrm>
                  <a:off x="1047677" y="3554270"/>
                  <a:ext cx="4187044" cy="5636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2C69C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2C69C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2C69C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𝒩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C69C9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2C69C9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</m:e>
                        </m:ra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C69C9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2C69C9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9AD2CA86-3E94-4282-93CE-3D4842BC0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77" y="3554270"/>
                  <a:ext cx="4187044" cy="56368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">
                  <a:extLst>
                    <a:ext uri="{FF2B5EF4-FFF2-40B4-BE49-F238E27FC236}">
                      <a16:creationId xmlns:a16="http://schemas.microsoft.com/office/drawing/2014/main" id="{E3108926-FE75-4EBC-8FD4-1267F196AE33}"/>
                    </a:ext>
                  </a:extLst>
                </p:cNvPr>
                <p:cNvSpPr txBox="1"/>
                <p:nvPr/>
              </p:nvSpPr>
              <p:spPr>
                <a:xfrm>
                  <a:off x="898082" y="4277556"/>
                  <a:ext cx="4299836" cy="8044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/>
                <a:lstStyle/>
                <a:p>
                  <a:pPr algn="just"/>
                  <a:r>
                    <a:rPr lang="ru-RU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Здесь</a:t>
                  </a:r>
                  <a:r>
                    <a:rPr lang="ru-RU" sz="1600" dirty="0">
                      <a:solidFill>
                        <a:schemeClr val="tx1"/>
                      </a:solidFill>
                      <a:cs typeface="Segoe UI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"/>
                        </a:rPr>
                        <m:t>𝑖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/>
                        </a:rPr>
                        <m:t>∈[0,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/>
                        </a:rPr>
                        <m:t>𝑇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/>
                        </a:rPr>
                        <m:t>]</m:t>
                      </m:r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 </a:t>
                  </a:r>
                  <a:r>
                    <a:rPr lang="ru-RU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- индекс шага диффузионного процесса,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ru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 </a:t>
                  </a:r>
                  <a:r>
                    <a:rPr lang="ru-RU" sz="1600" dirty="0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- индивидуальные временные </a:t>
                  </a:r>
                  <a:r>
                    <a:rPr lang="ru-RU" sz="1600" dirty="0" err="1">
                      <a:solidFill>
                        <a:schemeClr val="tx1"/>
                      </a:solidFill>
                      <a:latin typeface="Segoe UI"/>
                      <a:cs typeface="Segoe UI"/>
                    </a:rPr>
                    <a:t>timesteps</a:t>
                  </a:r>
                  <a:endParaRPr lang="ru-RU" sz="1600" dirty="0">
                    <a:solidFill>
                      <a:schemeClr val="tx1"/>
                    </a:solidFill>
                    <a:latin typeface="Segoe UI"/>
                    <a:cs typeface="Segoe UI"/>
                  </a:endParaRPr>
                </a:p>
              </p:txBody>
            </p:sp>
          </mc:Choice>
          <mc:Fallback xmlns="">
            <p:sp>
              <p:nvSpPr>
                <p:cNvPr id="114" name="Text">
                  <a:extLst>
                    <a:ext uri="{FF2B5EF4-FFF2-40B4-BE49-F238E27FC236}">
                      <a16:creationId xmlns:a16="http://schemas.microsoft.com/office/drawing/2014/main" id="{E3108926-FE75-4EBC-8FD4-1267F196A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082" y="4277556"/>
                  <a:ext cx="4299836" cy="804459"/>
                </a:xfrm>
                <a:prstGeom prst="rect">
                  <a:avLst/>
                </a:prstGeom>
                <a:blipFill>
                  <a:blip r:embed="rId7"/>
                  <a:stretch>
                    <a:fillRect l="-2837" t="-8333" r="-2979" b="-606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Background">
            <a:extLst>
              <a:ext uri="{FF2B5EF4-FFF2-40B4-BE49-F238E27FC236}">
                <a16:creationId xmlns:a16="http://schemas.microsoft.com/office/drawing/2014/main" id="{D4A4B892-365C-441D-8B4F-F0C83705D6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711200" y="342900"/>
            <a:ext cx="110363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chemeClr val="tx1"/>
                </a:solidFill>
                <a:latin typeface="Segoe UI"/>
                <a:cs typeface="Segoe UI"/>
              </a:rPr>
              <a:t>Построение масок семантически релевантных областей</a:t>
            </a:r>
          </a:p>
        </p:txBody>
      </p:sp>
      <p:sp>
        <p:nvSpPr>
          <p:cNvPr id="8" name="Card"/>
          <p:cNvSpPr/>
          <p:nvPr/>
        </p:nvSpPr>
        <p:spPr>
          <a:xfrm>
            <a:off x="603250" y="1460500"/>
            <a:ext cx="4603750" cy="4513964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874787" y="1714500"/>
            <a:ext cx="4060677" cy="679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Почему не </a:t>
            </a:r>
            <a:r>
              <a:rPr lang="ru-RU" sz="2100" b="1" dirty="0" err="1">
                <a:solidFill>
                  <a:srgbClr val="102033"/>
                </a:solidFill>
                <a:latin typeface="Segoe UI"/>
                <a:cs typeface="Segoe UI"/>
              </a:rPr>
              <a:t>cross-attention</a:t>
            </a:r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 при обучении?</a:t>
            </a:r>
          </a:p>
        </p:txBody>
      </p:sp>
      <p:grpSp>
        <p:nvGrpSpPr>
          <p:cNvPr id="124" name="Группа 123">
            <a:extLst>
              <a:ext uri="{FF2B5EF4-FFF2-40B4-BE49-F238E27FC236}">
                <a16:creationId xmlns:a16="http://schemas.microsoft.com/office/drawing/2014/main" id="{F74ADEBB-EC34-49A7-A30E-3469AC208950}"/>
              </a:ext>
            </a:extLst>
          </p:cNvPr>
          <p:cNvGrpSpPr/>
          <p:nvPr/>
        </p:nvGrpSpPr>
        <p:grpSpPr>
          <a:xfrm>
            <a:off x="1031875" y="2583854"/>
            <a:ext cx="3746500" cy="1578787"/>
            <a:chOff x="920750" y="2434999"/>
            <a:chExt cx="3746500" cy="1578787"/>
          </a:xfrm>
        </p:grpSpPr>
        <p:sp>
          <p:nvSpPr>
            <p:cNvPr id="11" name="Text"/>
            <p:cNvSpPr txBox="1"/>
            <p:nvPr/>
          </p:nvSpPr>
          <p:spPr>
            <a:xfrm>
              <a:off x="1085850" y="2434999"/>
              <a:ext cx="3581400" cy="15787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just">
                <a:spcAft>
                  <a:spcPts val="400"/>
                </a:spcAft>
              </a:pP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карты внимания в начале </a:t>
              </a: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fine-tuning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 могут быть ненадежными</a:t>
              </a:r>
            </a:p>
            <a:p>
              <a:pPr algn="just">
                <a:spcAft>
                  <a:spcPts val="400"/>
                </a:spcAft>
              </a:pP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маски меняются вместе с параметрами модели</a:t>
              </a:r>
            </a:p>
            <a:p>
              <a:pPr algn="just">
                <a:spcAft>
                  <a:spcPts val="400"/>
                </a:spcAft>
              </a:pP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attention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 показывает связь с токеном, а не границы объекта</a:t>
              </a:r>
            </a:p>
          </p:txBody>
        </p:sp>
        <p:sp>
          <p:nvSpPr>
            <p:cNvPr id="117" name="Ellipse">
              <a:extLst>
                <a:ext uri="{FF2B5EF4-FFF2-40B4-BE49-F238E27FC236}">
                  <a16:creationId xmlns:a16="http://schemas.microsoft.com/office/drawing/2014/main" id="{FB3F70BD-39CF-4F1C-984D-A418E1B7996E}"/>
                </a:ext>
              </a:extLst>
            </p:cNvPr>
            <p:cNvSpPr/>
            <p:nvPr/>
          </p:nvSpPr>
          <p:spPr>
            <a:xfrm>
              <a:off x="920750" y="2555875"/>
              <a:ext cx="63500" cy="63500"/>
            </a:xfrm>
            <a:prstGeom prst="ellipse">
              <a:avLst/>
            </a:prstGeom>
            <a:solidFill>
              <a:srgbClr val="E76F51"/>
            </a:solidFill>
            <a:ln>
              <a:noFill/>
            </a:ln>
          </p:spPr>
        </p:sp>
        <p:sp>
          <p:nvSpPr>
            <p:cNvPr id="118" name="Ellipse">
              <a:extLst>
                <a:ext uri="{FF2B5EF4-FFF2-40B4-BE49-F238E27FC236}">
                  <a16:creationId xmlns:a16="http://schemas.microsoft.com/office/drawing/2014/main" id="{19BF87CC-4F0B-496A-BE22-9E16BFE04805}"/>
                </a:ext>
              </a:extLst>
            </p:cNvPr>
            <p:cNvSpPr/>
            <p:nvPr/>
          </p:nvSpPr>
          <p:spPr>
            <a:xfrm>
              <a:off x="920750" y="3082925"/>
              <a:ext cx="63500" cy="63500"/>
            </a:xfrm>
            <a:prstGeom prst="ellipse">
              <a:avLst/>
            </a:prstGeom>
            <a:solidFill>
              <a:srgbClr val="E76F51"/>
            </a:solidFill>
            <a:ln>
              <a:noFill/>
            </a:ln>
          </p:spPr>
        </p:sp>
        <p:sp>
          <p:nvSpPr>
            <p:cNvPr id="119" name="Ellipse">
              <a:extLst>
                <a:ext uri="{FF2B5EF4-FFF2-40B4-BE49-F238E27FC236}">
                  <a16:creationId xmlns:a16="http://schemas.microsoft.com/office/drawing/2014/main" id="{79E4AEF2-C849-498E-A338-9FEEA842E85F}"/>
                </a:ext>
              </a:extLst>
            </p:cNvPr>
            <p:cNvSpPr/>
            <p:nvPr/>
          </p:nvSpPr>
          <p:spPr>
            <a:xfrm>
              <a:off x="920750" y="3625502"/>
              <a:ext cx="63500" cy="63500"/>
            </a:xfrm>
            <a:prstGeom prst="ellipse">
              <a:avLst/>
            </a:prstGeom>
            <a:solidFill>
              <a:srgbClr val="E76F51"/>
            </a:solidFill>
            <a:ln>
              <a:noFill/>
            </a:ln>
          </p:spPr>
        </p:sp>
      </p:grpSp>
      <p:grpSp>
        <p:nvGrpSpPr>
          <p:cNvPr id="120" name="Группа 119">
            <a:extLst>
              <a:ext uri="{FF2B5EF4-FFF2-40B4-BE49-F238E27FC236}">
                <a16:creationId xmlns:a16="http://schemas.microsoft.com/office/drawing/2014/main" id="{87183F6C-6059-43C7-A04B-61DCB2ACB532}"/>
              </a:ext>
            </a:extLst>
          </p:cNvPr>
          <p:cNvGrpSpPr/>
          <p:nvPr/>
        </p:nvGrpSpPr>
        <p:grpSpPr>
          <a:xfrm>
            <a:off x="1008912" y="4810041"/>
            <a:ext cx="3792426" cy="1000728"/>
            <a:chOff x="6183000" y="4603749"/>
            <a:chExt cx="3792426" cy="949419"/>
          </a:xfrm>
        </p:grpSpPr>
        <p:sp>
          <p:nvSpPr>
            <p:cNvPr id="121" name="Shape">
              <a:extLst>
                <a:ext uri="{FF2B5EF4-FFF2-40B4-BE49-F238E27FC236}">
                  <a16:creationId xmlns:a16="http://schemas.microsoft.com/office/drawing/2014/main" id="{61F079C1-42AD-4721-887D-72B70083885A}"/>
                </a:ext>
              </a:extLst>
            </p:cNvPr>
            <p:cNvSpPr/>
            <p:nvPr/>
          </p:nvSpPr>
          <p:spPr>
            <a:xfrm>
              <a:off x="6183000" y="4603749"/>
              <a:ext cx="3792426" cy="949419"/>
            </a:xfrm>
            <a:prstGeom prst="roundRect">
              <a:avLst/>
            </a:prstGeom>
            <a:solidFill>
              <a:srgbClr val="E8F7F6"/>
            </a:solidFill>
            <a:ln w="6350">
              <a:solidFill>
                <a:srgbClr val="B3E1DD"/>
              </a:solidFill>
            </a:ln>
          </p:spPr>
        </p:sp>
        <p:sp>
          <p:nvSpPr>
            <p:cNvPr id="122" name="Text">
              <a:extLst>
                <a:ext uri="{FF2B5EF4-FFF2-40B4-BE49-F238E27FC236}">
                  <a16:creationId xmlns:a16="http://schemas.microsoft.com/office/drawing/2014/main" id="{3BDC6213-77BA-429F-AC91-F64C002955A3}"/>
                </a:ext>
              </a:extLst>
            </p:cNvPr>
            <p:cNvSpPr txBox="1"/>
            <p:nvPr/>
          </p:nvSpPr>
          <p:spPr>
            <a:xfrm>
              <a:off x="6286500" y="4743450"/>
              <a:ext cx="99680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b="1" dirty="0">
                  <a:solidFill>
                    <a:srgbClr val="0E8F87"/>
                  </a:solidFill>
                  <a:latin typeface="Segoe UI"/>
                  <a:cs typeface="Segoe UI"/>
                </a:rPr>
                <a:t>Решение:</a:t>
              </a:r>
            </a:p>
          </p:txBody>
        </p:sp>
        <p:sp>
          <p:nvSpPr>
            <p:cNvPr id="123" name="Text">
              <a:extLst>
                <a:ext uri="{FF2B5EF4-FFF2-40B4-BE49-F238E27FC236}">
                  <a16:creationId xmlns:a16="http://schemas.microsoft.com/office/drawing/2014/main" id="{3EDE15E4-9B63-414D-9D44-3FB570688823}"/>
                </a:ext>
              </a:extLst>
            </p:cNvPr>
            <p:cNvSpPr txBox="1"/>
            <p:nvPr/>
          </p:nvSpPr>
          <p:spPr>
            <a:xfrm>
              <a:off x="7309883" y="4718049"/>
              <a:ext cx="2470317" cy="7505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just"/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заранее построить маски объектов для обучающих изображений</a:t>
              </a: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17389B7-5987-4A18-8F86-AABF20E902F8}"/>
              </a:ext>
            </a:extLst>
          </p:cNvPr>
          <p:cNvGrpSpPr/>
          <p:nvPr/>
        </p:nvGrpSpPr>
        <p:grpSpPr>
          <a:xfrm>
            <a:off x="5937250" y="2755900"/>
            <a:ext cx="5524500" cy="1923164"/>
            <a:chOff x="5905500" y="4051300"/>
            <a:chExt cx="5524500" cy="1923164"/>
          </a:xfrm>
        </p:grpSpPr>
        <p:sp>
          <p:nvSpPr>
            <p:cNvPr id="107" name="Card"/>
            <p:cNvSpPr/>
            <p:nvPr/>
          </p:nvSpPr>
          <p:spPr>
            <a:xfrm>
              <a:off x="5905500" y="4051300"/>
              <a:ext cx="5524500" cy="1923164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AF1"/>
              </a:solidFill>
            </a:ln>
          </p:spPr>
        </p:sp>
        <p:sp>
          <p:nvSpPr>
            <p:cNvPr id="108" name="Text"/>
            <p:cNvSpPr txBox="1"/>
            <p:nvPr/>
          </p:nvSpPr>
          <p:spPr>
            <a:xfrm>
              <a:off x="6197600" y="4216400"/>
              <a:ext cx="4845050" cy="374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2100" b="1" dirty="0">
                  <a:solidFill>
                    <a:srgbClr val="102033"/>
                  </a:solidFill>
                  <a:latin typeface="Segoe UI"/>
                  <a:cs typeface="Segoe UI"/>
                </a:rPr>
                <a:t>Рассмотренные источники масок</a:t>
              </a:r>
            </a:p>
          </p:txBody>
        </p:sp>
        <p:grpSp>
          <p:nvGrpSpPr>
            <p:cNvPr id="125" name="Группа 124">
              <a:extLst>
                <a:ext uri="{FF2B5EF4-FFF2-40B4-BE49-F238E27FC236}">
                  <a16:creationId xmlns:a16="http://schemas.microsoft.com/office/drawing/2014/main" id="{8E4ED8AF-69A7-4814-B2E8-3CE2902BF874}"/>
                </a:ext>
              </a:extLst>
            </p:cNvPr>
            <p:cNvGrpSpPr/>
            <p:nvPr/>
          </p:nvGrpSpPr>
          <p:grpSpPr>
            <a:xfrm>
              <a:off x="6159500" y="4811159"/>
              <a:ext cx="2474137" cy="393700"/>
              <a:chOff x="6159499" y="5016500"/>
              <a:chExt cx="2474137" cy="393700"/>
            </a:xfrm>
          </p:grpSpPr>
          <p:sp>
            <p:nvSpPr>
              <p:cNvPr id="109" name="Shape"/>
              <p:cNvSpPr/>
              <p:nvPr/>
            </p:nvSpPr>
            <p:spPr>
              <a:xfrm>
                <a:off x="6159499" y="5016500"/>
                <a:ext cx="2474137" cy="393700"/>
              </a:xfrm>
              <a:prstGeom prst="roundRect">
                <a:avLst/>
              </a:prstGeom>
              <a:solidFill>
                <a:srgbClr val="F4F7FB"/>
              </a:solidFill>
              <a:ln w="6350">
                <a:solidFill>
                  <a:srgbClr val="E0E7F1"/>
                </a:solidFill>
              </a:ln>
            </p:spPr>
          </p:sp>
          <p:sp>
            <p:nvSpPr>
              <p:cNvPr id="110" name="Text"/>
              <p:cNvSpPr txBox="1"/>
              <p:nvPr/>
            </p:nvSpPr>
            <p:spPr>
              <a:xfrm>
                <a:off x="6263092" y="5073649"/>
                <a:ext cx="2266950" cy="2666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ru-RU" sz="1600" dirty="0" err="1">
                    <a:solidFill>
                      <a:srgbClr val="102033"/>
                    </a:solidFill>
                    <a:latin typeface="Segoe UI"/>
                    <a:cs typeface="Segoe UI"/>
                  </a:rPr>
                  <a:t>Grounding</a:t>
                </a:r>
                <a:r>
                  <a:rPr lang="ru-RU" sz="1600" dirty="0">
                    <a:solidFill>
                      <a:srgbClr val="102033"/>
                    </a:solidFill>
                    <a:latin typeface="Segoe UI"/>
                    <a:cs typeface="Segoe UI"/>
                  </a:rPr>
                  <a:t> DINO + SAM</a:t>
                </a:r>
              </a:p>
            </p:txBody>
          </p:sp>
        </p:grpSp>
        <p:grpSp>
          <p:nvGrpSpPr>
            <p:cNvPr id="126" name="Группа 125">
              <a:extLst>
                <a:ext uri="{FF2B5EF4-FFF2-40B4-BE49-F238E27FC236}">
                  <a16:creationId xmlns:a16="http://schemas.microsoft.com/office/drawing/2014/main" id="{699E5C32-1115-4E00-BA20-1AA06344C3D4}"/>
                </a:ext>
              </a:extLst>
            </p:cNvPr>
            <p:cNvGrpSpPr/>
            <p:nvPr/>
          </p:nvGrpSpPr>
          <p:grpSpPr>
            <a:xfrm>
              <a:off x="8809813" y="4810040"/>
              <a:ext cx="2474137" cy="393700"/>
              <a:chOff x="6159499" y="5016500"/>
              <a:chExt cx="2474137" cy="393700"/>
            </a:xfrm>
          </p:grpSpPr>
          <p:sp>
            <p:nvSpPr>
              <p:cNvPr id="127" name="Shape">
                <a:extLst>
                  <a:ext uri="{FF2B5EF4-FFF2-40B4-BE49-F238E27FC236}">
                    <a16:creationId xmlns:a16="http://schemas.microsoft.com/office/drawing/2014/main" id="{288085C3-1CB4-4DEC-9E74-3737413E742E}"/>
                  </a:ext>
                </a:extLst>
              </p:cNvPr>
              <p:cNvSpPr/>
              <p:nvPr/>
            </p:nvSpPr>
            <p:spPr>
              <a:xfrm>
                <a:off x="6159499" y="5016500"/>
                <a:ext cx="2474137" cy="393700"/>
              </a:xfrm>
              <a:prstGeom prst="roundRect">
                <a:avLst/>
              </a:prstGeom>
              <a:solidFill>
                <a:srgbClr val="F4F7FB"/>
              </a:solidFill>
              <a:ln w="6350">
                <a:solidFill>
                  <a:srgbClr val="E0E7F1"/>
                </a:solidFill>
              </a:ln>
            </p:spPr>
          </p:sp>
          <p:sp>
            <p:nvSpPr>
              <p:cNvPr id="128" name="Text">
                <a:extLst>
                  <a:ext uri="{FF2B5EF4-FFF2-40B4-BE49-F238E27FC236}">
                    <a16:creationId xmlns:a16="http://schemas.microsoft.com/office/drawing/2014/main" id="{7F91F300-E032-4C01-89E5-85BA0DE72DDC}"/>
                  </a:ext>
                </a:extLst>
              </p:cNvPr>
              <p:cNvSpPr txBox="1"/>
              <p:nvPr/>
            </p:nvSpPr>
            <p:spPr>
              <a:xfrm>
                <a:off x="6263092" y="5073649"/>
                <a:ext cx="2266950" cy="2666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ru-RU" sz="1600" dirty="0" err="1">
                    <a:solidFill>
                      <a:srgbClr val="102033"/>
                    </a:solidFill>
                    <a:latin typeface="Segoe UI"/>
                    <a:cs typeface="Segoe UI"/>
                  </a:rPr>
                  <a:t>Depth</a:t>
                </a:r>
                <a:r>
                  <a:rPr lang="ru-RU" sz="1600" dirty="0">
                    <a:solidFill>
                      <a:srgbClr val="102033"/>
                    </a:solidFill>
                    <a:latin typeface="Segoe UI"/>
                    <a:cs typeface="Segoe UI"/>
                  </a:rPr>
                  <a:t> </a:t>
                </a:r>
                <a:r>
                  <a:rPr lang="ru-RU" sz="1600" dirty="0" err="1">
                    <a:solidFill>
                      <a:srgbClr val="102033"/>
                    </a:solidFill>
                    <a:latin typeface="Segoe UI"/>
                    <a:cs typeface="Segoe UI"/>
                  </a:rPr>
                  <a:t>Anything</a:t>
                </a:r>
                <a:endParaRPr lang="ru-RU" sz="1600" dirty="0">
                  <a:solidFill>
                    <a:srgbClr val="102033"/>
                  </a:solidFill>
                  <a:latin typeface="Segoe UI"/>
                  <a:cs typeface="Segoe UI"/>
                </a:endParaRPr>
              </a:p>
            </p:txBody>
          </p:sp>
        </p:grpSp>
        <p:grpSp>
          <p:nvGrpSpPr>
            <p:cNvPr id="129" name="Группа 128">
              <a:extLst>
                <a:ext uri="{FF2B5EF4-FFF2-40B4-BE49-F238E27FC236}">
                  <a16:creationId xmlns:a16="http://schemas.microsoft.com/office/drawing/2014/main" id="{4F247A4D-C63E-455E-B089-B8B982E5CC87}"/>
                </a:ext>
              </a:extLst>
            </p:cNvPr>
            <p:cNvGrpSpPr/>
            <p:nvPr/>
          </p:nvGrpSpPr>
          <p:grpSpPr>
            <a:xfrm>
              <a:off x="7430682" y="5417068"/>
              <a:ext cx="2474137" cy="393700"/>
              <a:chOff x="6159499" y="5016500"/>
              <a:chExt cx="2474137" cy="393700"/>
            </a:xfrm>
          </p:grpSpPr>
          <p:sp>
            <p:nvSpPr>
              <p:cNvPr id="130" name="Shape">
                <a:extLst>
                  <a:ext uri="{FF2B5EF4-FFF2-40B4-BE49-F238E27FC236}">
                    <a16:creationId xmlns:a16="http://schemas.microsoft.com/office/drawing/2014/main" id="{0E57E9F5-15CC-4781-9A88-E018E3361BF7}"/>
                  </a:ext>
                </a:extLst>
              </p:cNvPr>
              <p:cNvSpPr/>
              <p:nvPr/>
            </p:nvSpPr>
            <p:spPr>
              <a:xfrm>
                <a:off x="6159499" y="5016500"/>
                <a:ext cx="2474137" cy="393700"/>
              </a:xfrm>
              <a:prstGeom prst="roundRect">
                <a:avLst/>
              </a:prstGeom>
              <a:solidFill>
                <a:srgbClr val="F4F7FB"/>
              </a:solidFill>
              <a:ln w="6350">
                <a:solidFill>
                  <a:srgbClr val="E0E7F1"/>
                </a:solidFill>
              </a:ln>
            </p:spPr>
          </p:sp>
          <p:sp>
            <p:nvSpPr>
              <p:cNvPr id="131" name="Text">
                <a:extLst>
                  <a:ext uri="{FF2B5EF4-FFF2-40B4-BE49-F238E27FC236}">
                    <a16:creationId xmlns:a16="http://schemas.microsoft.com/office/drawing/2014/main" id="{0DE4D4E7-E85A-4E4F-B8CA-C84E5B1054E4}"/>
                  </a:ext>
                </a:extLst>
              </p:cNvPr>
              <p:cNvSpPr txBox="1"/>
              <p:nvPr/>
            </p:nvSpPr>
            <p:spPr>
              <a:xfrm>
                <a:off x="6263092" y="5073649"/>
                <a:ext cx="2266950" cy="2666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/>
              <a:lstStyle/>
              <a:p>
                <a:pPr algn="ctr"/>
                <a:r>
                  <a:rPr lang="en-US" sz="1600" dirty="0">
                    <a:solidFill>
                      <a:srgbClr val="102033"/>
                    </a:solidFill>
                    <a:latin typeface="Segoe UI"/>
                    <a:cs typeface="Segoe UI"/>
                  </a:rPr>
                  <a:t>RMBG-2.0</a:t>
                </a:r>
                <a:endParaRPr lang="ru-RU" sz="1600" dirty="0">
                  <a:solidFill>
                    <a:srgbClr val="102033"/>
                  </a:solidFill>
                  <a:latin typeface="Segoe UI"/>
                  <a:cs typeface="Segoe U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711200" y="342900"/>
            <a:ext cx="825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rgbClr val="102033"/>
                </a:solidFill>
                <a:latin typeface="Segoe UI"/>
                <a:cs typeface="Segoe UI"/>
              </a:rPr>
              <a:t>Сравнение разных масок</a:t>
            </a:r>
          </a:p>
        </p:txBody>
      </p:sp>
      <p:sp>
        <p:nvSpPr>
          <p:cNvPr id="9" name="Card"/>
          <p:cNvSpPr/>
          <p:nvPr/>
        </p:nvSpPr>
        <p:spPr>
          <a:xfrm>
            <a:off x="539749" y="1460499"/>
            <a:ext cx="3909977" cy="4791445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793749" y="1714500"/>
            <a:ext cx="1736799" cy="3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Выводы</a:t>
            </a:r>
          </a:p>
        </p:txBody>
      </p:sp>
      <p:sp>
        <p:nvSpPr>
          <p:cNvPr id="11" name="Ellipse"/>
          <p:cNvSpPr/>
          <p:nvPr/>
        </p:nvSpPr>
        <p:spPr>
          <a:xfrm>
            <a:off x="857250" y="2295535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1022349" y="2190749"/>
            <a:ext cx="2996758" cy="239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DINO + SAM учитывает текст, но чувствителен к порогам</a:t>
            </a:r>
          </a:p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Карта глубины не отражает семантическую значимость объекта</a:t>
            </a:r>
          </a:p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RMBG не учитывает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промпт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, но часто аккуратно выделяет главный объект</a:t>
            </a:r>
          </a:p>
        </p:txBody>
      </p:sp>
      <p:sp>
        <p:nvSpPr>
          <p:cNvPr id="17" name="Shape"/>
          <p:cNvSpPr/>
          <p:nvPr/>
        </p:nvSpPr>
        <p:spPr>
          <a:xfrm>
            <a:off x="793749" y="5006585"/>
            <a:ext cx="3225358" cy="830691"/>
          </a:xfrm>
          <a:prstGeom prst="roundRect">
            <a:avLst/>
          </a:prstGeom>
          <a:solidFill>
            <a:srgbClr val="FFF4E6"/>
          </a:solidFill>
          <a:ln w="6350">
            <a:solidFill>
              <a:srgbClr val="F7CC99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958185" y="5179301"/>
            <a:ext cx="2896486" cy="4639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1600" dirty="0">
                <a:solidFill>
                  <a:srgbClr val="102033"/>
                </a:solidFill>
                <a:latin typeface="Segoe UI"/>
                <a:cs typeface="Segoe UI"/>
              </a:rPr>
              <a:t>R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emove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background</a:t>
            </a:r>
            <a:r>
              <a:rPr lang="en-US" sz="1600" dirty="0">
                <a:solidFill>
                  <a:srgbClr val="102033"/>
                </a:solidFill>
                <a:latin typeface="Segoe UI"/>
                <a:cs typeface="Segoe UI"/>
              </a:rPr>
              <a:t> 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оказался лучшим.</a:t>
            </a:r>
          </a:p>
        </p:txBody>
      </p:sp>
      <p:sp>
        <p:nvSpPr>
          <p:cNvPr id="23" name="Card">
            <a:extLst>
              <a:ext uri="{FF2B5EF4-FFF2-40B4-BE49-F238E27FC236}">
                <a16:creationId xmlns:a16="http://schemas.microsoft.com/office/drawing/2014/main" id="{BC8B7BE3-BBEF-476D-9B10-BC4EEDABEC4A}"/>
              </a:ext>
            </a:extLst>
          </p:cNvPr>
          <p:cNvSpPr/>
          <p:nvPr/>
        </p:nvSpPr>
        <p:spPr>
          <a:xfrm>
            <a:off x="4985716" y="977646"/>
            <a:ext cx="6876000" cy="52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pic>
        <p:nvPicPr>
          <p:cNvPr id="22" name="Image">
            <a:extLst>
              <a:ext uri="{FF2B5EF4-FFF2-40B4-BE49-F238E27FC236}">
                <a16:creationId xmlns:a16="http://schemas.microsoft.com/office/drawing/2014/main" id="{B21EF59B-9CA5-48FE-84AD-6FFF56315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175" y="1341092"/>
            <a:ext cx="6151083" cy="4493109"/>
          </a:xfrm>
          <a:prstGeom prst="rect">
            <a:avLst/>
          </a:prstGeom>
          <a:ln>
            <a:noFill/>
          </a:ln>
        </p:spPr>
      </p:pic>
      <p:sp>
        <p:nvSpPr>
          <p:cNvPr id="24" name="Ellipse">
            <a:extLst>
              <a:ext uri="{FF2B5EF4-FFF2-40B4-BE49-F238E27FC236}">
                <a16:creationId xmlns:a16="http://schemas.microsoft.com/office/drawing/2014/main" id="{2C8B672D-926D-49B0-92D1-B91EEB7D4D48}"/>
              </a:ext>
            </a:extLst>
          </p:cNvPr>
          <p:cNvSpPr/>
          <p:nvPr/>
        </p:nvSpPr>
        <p:spPr>
          <a:xfrm>
            <a:off x="857250" y="2830831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25" name="Ellipse">
            <a:extLst>
              <a:ext uri="{FF2B5EF4-FFF2-40B4-BE49-F238E27FC236}">
                <a16:creationId xmlns:a16="http://schemas.microsoft.com/office/drawing/2014/main" id="{60A98E13-7357-4535-A88F-8A4BE03C80C1}"/>
              </a:ext>
            </a:extLst>
          </p:cNvPr>
          <p:cNvSpPr/>
          <p:nvPr/>
        </p:nvSpPr>
        <p:spPr>
          <a:xfrm>
            <a:off x="857250" y="3617038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AC31D2C-2F20-4E80-8BD9-B74FDAFABF9B}"/>
              </a:ext>
            </a:extLst>
          </p:cNvPr>
          <p:cNvGrpSpPr/>
          <p:nvPr/>
        </p:nvGrpSpPr>
        <p:grpSpPr>
          <a:xfrm>
            <a:off x="666750" y="2087433"/>
            <a:ext cx="11032028" cy="2911287"/>
            <a:chOff x="666750" y="1523999"/>
            <a:chExt cx="11032028" cy="2911287"/>
          </a:xfrm>
        </p:grpSpPr>
        <p:sp>
          <p:nvSpPr>
            <p:cNvPr id="9" name="Shape"/>
            <p:cNvSpPr/>
            <p:nvPr/>
          </p:nvSpPr>
          <p:spPr>
            <a:xfrm>
              <a:off x="666750" y="1523999"/>
              <a:ext cx="3302000" cy="2911285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AF1"/>
              </a:solidFill>
            </a:ln>
          </p:spPr>
        </p:sp>
        <p:sp>
          <p:nvSpPr>
            <p:cNvPr id="10" name="Ellipse"/>
            <p:cNvSpPr/>
            <p:nvPr/>
          </p:nvSpPr>
          <p:spPr>
            <a:xfrm>
              <a:off x="857250" y="1689100"/>
              <a:ext cx="342900" cy="342900"/>
            </a:xfrm>
            <a:prstGeom prst="ellipse">
              <a:avLst/>
            </a:prstGeom>
            <a:solidFill>
              <a:srgbClr val="2C69C9"/>
            </a:solidFill>
            <a:ln>
              <a:noFill/>
            </a:ln>
          </p:spPr>
        </p:sp>
        <p:sp>
          <p:nvSpPr>
            <p:cNvPr id="11" name="Text"/>
            <p:cNvSpPr txBox="1"/>
            <p:nvPr/>
          </p:nvSpPr>
          <p:spPr>
            <a:xfrm>
              <a:off x="958850" y="1771650"/>
              <a:ext cx="1397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ru-RU" sz="1600" b="1" dirty="0">
                  <a:solidFill>
                    <a:srgbClr val="FFFFFF"/>
                  </a:solidFill>
                  <a:latin typeface="Segoe UI"/>
                  <a:cs typeface="Segoe UI"/>
                </a:rPr>
                <a:t>1</a:t>
              </a:r>
            </a:p>
          </p:txBody>
        </p:sp>
        <p:sp>
          <p:nvSpPr>
            <p:cNvPr id="12" name="Text"/>
            <p:cNvSpPr txBox="1"/>
            <p:nvPr/>
          </p:nvSpPr>
          <p:spPr>
            <a:xfrm>
              <a:off x="1333500" y="1714499"/>
              <a:ext cx="2444750" cy="342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2000" b="1" dirty="0">
                  <a:solidFill>
                    <a:srgbClr val="2C69C9"/>
                  </a:solidFill>
                  <a:latin typeface="Segoe UI"/>
                  <a:cs typeface="Segoe UI"/>
                </a:rPr>
                <a:t>Базовая модель</a:t>
              </a:r>
            </a:p>
          </p:txBody>
        </p:sp>
        <p:sp>
          <p:nvSpPr>
            <p:cNvPr id="13" name="Ellipse"/>
            <p:cNvSpPr/>
            <p:nvPr/>
          </p:nvSpPr>
          <p:spPr>
            <a:xfrm>
              <a:off x="933450" y="2327275"/>
              <a:ext cx="63500" cy="63500"/>
            </a:xfrm>
            <a:prstGeom prst="ellipse">
              <a:avLst/>
            </a:prstGeom>
            <a:solidFill>
              <a:srgbClr val="2C69C9"/>
            </a:solidFill>
            <a:ln>
              <a:noFill/>
            </a:ln>
          </p:spPr>
        </p:sp>
        <p:sp>
          <p:nvSpPr>
            <p:cNvPr id="14" name="Text"/>
            <p:cNvSpPr txBox="1"/>
            <p:nvPr/>
          </p:nvSpPr>
          <p:spPr>
            <a:xfrm>
              <a:off x="1111250" y="2235200"/>
              <a:ext cx="2374554" cy="1320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>
                <a:spcAft>
                  <a:spcPts val="400"/>
                </a:spcAft>
              </a:pP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Stable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 </a:t>
              </a: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Diffusion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 2.1</a:t>
              </a:r>
            </a:p>
            <a:p>
              <a:pPr algn="l">
                <a:spcAft>
                  <a:spcPts val="400"/>
                </a:spcAft>
              </a:pP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Все исходные веса заморожены</a:t>
              </a:r>
            </a:p>
            <a:p>
              <a:pPr algn="l">
                <a:spcAft>
                  <a:spcPts val="400"/>
                </a:spcAft>
              </a:pPr>
              <a:r>
                <a:rPr lang="en-US" sz="1600" dirty="0">
                  <a:solidFill>
                    <a:srgbClr val="102033"/>
                  </a:solidFill>
                  <a:latin typeface="Segoe UI"/>
                  <a:cs typeface="Segoe UI"/>
                </a:rPr>
                <a:t>F</a:t>
              </a: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ine-tuning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 только через </a:t>
              </a: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LoRA</a:t>
              </a:r>
              <a:endParaRPr lang="ru-RU" sz="1600" dirty="0">
                <a:solidFill>
                  <a:srgbClr val="102033"/>
                </a:solidFill>
                <a:latin typeface="Segoe UI"/>
                <a:cs typeface="Segoe UI"/>
              </a:endParaRPr>
            </a:p>
            <a:p>
              <a:pPr algn="l"/>
              <a:endParaRPr lang="ru-RU" sz="1500" dirty="0">
                <a:solidFill>
                  <a:srgbClr val="102033"/>
                </a:solidFill>
                <a:latin typeface="Segoe UI"/>
                <a:cs typeface="Segoe UI"/>
              </a:endParaRPr>
            </a:p>
          </p:txBody>
        </p:sp>
        <p:sp>
          <p:nvSpPr>
            <p:cNvPr id="15" name="Ellipse"/>
            <p:cNvSpPr/>
            <p:nvPr/>
          </p:nvSpPr>
          <p:spPr>
            <a:xfrm>
              <a:off x="933450" y="2651125"/>
              <a:ext cx="63500" cy="63500"/>
            </a:xfrm>
            <a:prstGeom prst="ellipse">
              <a:avLst/>
            </a:prstGeom>
            <a:solidFill>
              <a:srgbClr val="2C69C9"/>
            </a:solidFill>
            <a:ln>
              <a:noFill/>
            </a:ln>
          </p:spPr>
        </p:sp>
        <p:sp>
          <p:nvSpPr>
            <p:cNvPr id="17" name="Ellipse"/>
            <p:cNvSpPr/>
            <p:nvPr/>
          </p:nvSpPr>
          <p:spPr>
            <a:xfrm>
              <a:off x="933450" y="3155950"/>
              <a:ext cx="63500" cy="63500"/>
            </a:xfrm>
            <a:prstGeom prst="ellipse">
              <a:avLst/>
            </a:prstGeom>
            <a:solidFill>
              <a:srgbClr val="2C69C9"/>
            </a:solidFill>
            <a:ln>
              <a:noFill/>
            </a:ln>
          </p:spPr>
        </p:sp>
        <p:sp>
          <p:nvSpPr>
            <p:cNvPr id="19" name="Shape"/>
            <p:cNvSpPr/>
            <p:nvPr/>
          </p:nvSpPr>
          <p:spPr>
            <a:xfrm>
              <a:off x="4445000" y="1524000"/>
              <a:ext cx="3302000" cy="2911286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AF1"/>
              </a:solidFill>
            </a:ln>
          </p:spPr>
        </p:sp>
        <p:sp>
          <p:nvSpPr>
            <p:cNvPr id="20" name="Ellipse"/>
            <p:cNvSpPr/>
            <p:nvPr/>
          </p:nvSpPr>
          <p:spPr>
            <a:xfrm>
              <a:off x="4635500" y="1689100"/>
              <a:ext cx="342900" cy="342900"/>
            </a:xfrm>
            <a:prstGeom prst="ellipse">
              <a:avLst/>
            </a:prstGeom>
            <a:solidFill>
              <a:srgbClr val="0E8F87"/>
            </a:solidFill>
            <a:ln>
              <a:noFill/>
            </a:ln>
          </p:spPr>
        </p:sp>
        <p:sp>
          <p:nvSpPr>
            <p:cNvPr id="21" name="Text"/>
            <p:cNvSpPr txBox="1"/>
            <p:nvPr/>
          </p:nvSpPr>
          <p:spPr>
            <a:xfrm>
              <a:off x="4635500" y="1771650"/>
              <a:ext cx="3429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ru-RU" sz="1600" b="1" dirty="0">
                  <a:solidFill>
                    <a:srgbClr val="FFFFFF"/>
                  </a:solidFill>
                  <a:latin typeface="Segoe UI"/>
                  <a:cs typeface="Segoe UI"/>
                </a:rPr>
                <a:t>2</a:t>
              </a:r>
            </a:p>
          </p:txBody>
        </p:sp>
        <p:sp>
          <p:nvSpPr>
            <p:cNvPr id="22" name="Text"/>
            <p:cNvSpPr txBox="1"/>
            <p:nvPr/>
          </p:nvSpPr>
          <p:spPr>
            <a:xfrm>
              <a:off x="5111750" y="1714499"/>
              <a:ext cx="2444750" cy="3429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2000" b="1" dirty="0" err="1">
                  <a:solidFill>
                    <a:srgbClr val="0E8F87"/>
                  </a:solidFill>
                  <a:latin typeface="Segoe UI"/>
                  <a:cs typeface="Segoe UI"/>
                </a:rPr>
                <a:t>LoRA</a:t>
              </a:r>
              <a:r>
                <a:rPr lang="ru-RU" sz="2000" b="1" dirty="0">
                  <a:solidFill>
                    <a:srgbClr val="0E8F87"/>
                  </a:solidFill>
                  <a:latin typeface="Segoe UI"/>
                  <a:cs typeface="Segoe UI"/>
                </a:rPr>
                <a:t> в </a:t>
              </a:r>
              <a:r>
                <a:rPr lang="ru-RU" sz="2000" b="1" dirty="0" err="1">
                  <a:solidFill>
                    <a:srgbClr val="0E8F87"/>
                  </a:solidFill>
                  <a:latin typeface="Segoe UI"/>
                  <a:cs typeface="Segoe UI"/>
                </a:rPr>
                <a:t>attention</a:t>
              </a:r>
              <a:endParaRPr lang="ru-RU" sz="2000" b="1" dirty="0">
                <a:solidFill>
                  <a:srgbClr val="0E8F87"/>
                </a:solidFill>
                <a:latin typeface="Segoe UI"/>
                <a:cs typeface="Segoe UI"/>
              </a:endParaRPr>
            </a:p>
          </p:txBody>
        </p:sp>
        <p:sp>
          <p:nvSpPr>
            <p:cNvPr id="23" name="Ellipse"/>
            <p:cNvSpPr/>
            <p:nvPr/>
          </p:nvSpPr>
          <p:spPr>
            <a:xfrm>
              <a:off x="4711700" y="2330450"/>
              <a:ext cx="63500" cy="63500"/>
            </a:xfrm>
            <a:prstGeom prst="ellipse">
              <a:avLst/>
            </a:prstGeom>
            <a:solidFill>
              <a:srgbClr val="0E8F87"/>
            </a:solidFill>
            <a:ln>
              <a:noFill/>
            </a:ln>
          </p:spPr>
        </p:sp>
        <p:sp>
          <p:nvSpPr>
            <p:cNvPr id="24" name="Text"/>
            <p:cNvSpPr txBox="1"/>
            <p:nvPr/>
          </p:nvSpPr>
          <p:spPr>
            <a:xfrm>
              <a:off x="4889500" y="2235199"/>
              <a:ext cx="2679700" cy="1482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Адаптеры в </a:t>
              </a: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attention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-слоях Именно </a:t>
              </a: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attention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 связывает текст и изображение</a:t>
              </a:r>
              <a:endParaRPr lang="en-US" sz="1600" dirty="0">
                <a:solidFill>
                  <a:srgbClr val="102033"/>
                </a:solidFill>
                <a:latin typeface="Segoe UI"/>
                <a:cs typeface="Segoe UI"/>
              </a:endParaRPr>
            </a:p>
          </p:txBody>
        </p:sp>
        <p:sp>
          <p:nvSpPr>
            <p:cNvPr id="25" name="Ellipse"/>
            <p:cNvSpPr/>
            <p:nvPr/>
          </p:nvSpPr>
          <p:spPr>
            <a:xfrm>
              <a:off x="4711700" y="2581910"/>
              <a:ext cx="63500" cy="63500"/>
            </a:xfrm>
            <a:prstGeom prst="ellipse">
              <a:avLst/>
            </a:prstGeom>
            <a:solidFill>
              <a:srgbClr val="0E8F87"/>
            </a:solidFill>
            <a:ln>
              <a:noFill/>
            </a:ln>
          </p:spPr>
        </p:sp>
        <p:sp>
          <p:nvSpPr>
            <p:cNvPr id="29" name="Shape"/>
            <p:cNvSpPr/>
            <p:nvPr/>
          </p:nvSpPr>
          <p:spPr>
            <a:xfrm>
              <a:off x="8223250" y="1523999"/>
              <a:ext cx="3475528" cy="2911287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AF1"/>
              </a:solidFill>
            </a:ln>
          </p:spPr>
        </p:sp>
        <p:sp>
          <p:nvSpPr>
            <p:cNvPr id="30" name="Ellipse"/>
            <p:cNvSpPr/>
            <p:nvPr/>
          </p:nvSpPr>
          <p:spPr>
            <a:xfrm>
              <a:off x="8413750" y="1689100"/>
              <a:ext cx="342900" cy="342900"/>
            </a:xfrm>
            <a:prstGeom prst="ellipse">
              <a:avLst/>
            </a:prstGeom>
            <a:solidFill>
              <a:srgbClr val="E76F51"/>
            </a:solidFill>
            <a:ln>
              <a:noFill/>
            </a:ln>
          </p:spPr>
          <p:txBody>
            <a:bodyPr anchor="ctr"/>
            <a:lstStyle/>
            <a:p>
              <a:endParaRPr lang="ru-RU"/>
            </a:p>
          </p:txBody>
        </p:sp>
        <p:sp>
          <p:nvSpPr>
            <p:cNvPr id="31" name="Text"/>
            <p:cNvSpPr txBox="1"/>
            <p:nvPr/>
          </p:nvSpPr>
          <p:spPr>
            <a:xfrm>
              <a:off x="8413750" y="1771650"/>
              <a:ext cx="3429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ru-RU" sz="1600" b="1" dirty="0">
                  <a:solidFill>
                    <a:srgbClr val="FFFFFF"/>
                  </a:solidFill>
                  <a:latin typeface="Segoe UI"/>
                  <a:cs typeface="Segoe UI"/>
                </a:rPr>
                <a:t>3</a:t>
              </a:r>
            </a:p>
          </p:txBody>
        </p:sp>
        <p:sp>
          <p:nvSpPr>
            <p:cNvPr id="32" name="Text"/>
            <p:cNvSpPr txBox="1"/>
            <p:nvPr/>
          </p:nvSpPr>
          <p:spPr>
            <a:xfrm>
              <a:off x="8890000" y="1714500"/>
              <a:ext cx="2444750" cy="6413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ru-RU" sz="2000" b="1" dirty="0">
                  <a:solidFill>
                    <a:srgbClr val="E76F51"/>
                  </a:solidFill>
                  <a:latin typeface="Segoe UI"/>
                  <a:cs typeface="Segoe UI"/>
                </a:rPr>
                <a:t>Асинхронное обучение</a:t>
              </a:r>
            </a:p>
          </p:txBody>
        </p:sp>
        <p:sp>
          <p:nvSpPr>
            <p:cNvPr id="33" name="Ellipse"/>
            <p:cNvSpPr/>
            <p:nvPr/>
          </p:nvSpPr>
          <p:spPr>
            <a:xfrm>
              <a:off x="8489950" y="2526435"/>
              <a:ext cx="63500" cy="63500"/>
            </a:xfrm>
            <a:prstGeom prst="ellipse">
              <a:avLst/>
            </a:prstGeom>
            <a:solidFill>
              <a:srgbClr val="E76F51"/>
            </a:solidFill>
            <a:ln>
              <a:noFill/>
            </a:ln>
          </p:spPr>
        </p:sp>
        <p:sp>
          <p:nvSpPr>
            <p:cNvPr id="34" name="Text"/>
            <p:cNvSpPr txBox="1"/>
            <p:nvPr/>
          </p:nvSpPr>
          <p:spPr>
            <a:xfrm>
              <a:off x="8667749" y="2441575"/>
              <a:ext cx="2753937" cy="1749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just"/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Маска M задает области объектов</a:t>
              </a:r>
            </a:p>
            <a:p>
              <a:pPr algn="just"/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Строится матрица локальных </a:t>
              </a: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timestep</a:t>
              </a:r>
              <a:endParaRPr lang="ru-RU" sz="1600" dirty="0">
                <a:solidFill>
                  <a:srgbClr val="102033"/>
                </a:solidFill>
                <a:latin typeface="Segoe UI"/>
                <a:cs typeface="Segoe UI"/>
              </a:endParaRPr>
            </a:p>
            <a:p>
              <a:pPr algn="just"/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Области </a:t>
              </a:r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зашумляются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 по-разному</a:t>
              </a:r>
            </a:p>
            <a:p>
              <a:pPr algn="just"/>
              <a:r>
                <a:rPr lang="ru-RU" sz="1600" dirty="0" err="1">
                  <a:solidFill>
                    <a:srgbClr val="102033"/>
                  </a:solidFill>
                  <a:latin typeface="Segoe UI"/>
                  <a:cs typeface="Segoe UI"/>
                </a:rPr>
                <a:t>Датасеты</a:t>
              </a:r>
              <a:r>
                <a:rPr lang="ru-RU" sz="1600" dirty="0">
                  <a:solidFill>
                    <a:srgbClr val="102033"/>
                  </a:solidFill>
                  <a:latin typeface="Segoe UI"/>
                  <a:cs typeface="Segoe UI"/>
                </a:rPr>
                <a:t>: </a:t>
              </a:r>
              <a:r>
                <a:rPr lang="en-US" sz="1600" dirty="0">
                  <a:solidFill>
                    <a:srgbClr val="102033"/>
                  </a:solidFill>
                  <a:latin typeface="Segoe UI"/>
                  <a:cs typeface="Segoe UI"/>
                </a:rPr>
                <a:t>LAION, COCO</a:t>
              </a:r>
              <a:endParaRPr lang="ru-RU" sz="1500" dirty="0">
                <a:solidFill>
                  <a:srgbClr val="102033"/>
                </a:solidFill>
                <a:latin typeface="Segoe UI"/>
                <a:cs typeface="Segoe UI"/>
              </a:endParaRPr>
            </a:p>
          </p:txBody>
        </p:sp>
        <p:sp>
          <p:nvSpPr>
            <p:cNvPr id="35" name="Ellipse"/>
            <p:cNvSpPr/>
            <p:nvPr/>
          </p:nvSpPr>
          <p:spPr>
            <a:xfrm>
              <a:off x="8489950" y="3030484"/>
              <a:ext cx="63500" cy="63500"/>
            </a:xfrm>
            <a:prstGeom prst="ellipse">
              <a:avLst/>
            </a:prstGeom>
            <a:solidFill>
              <a:srgbClr val="E76F51"/>
            </a:solidFill>
            <a:ln>
              <a:noFill/>
            </a:ln>
          </p:spPr>
        </p:sp>
        <p:sp>
          <p:nvSpPr>
            <p:cNvPr id="37" name="Ellipse"/>
            <p:cNvSpPr/>
            <p:nvPr/>
          </p:nvSpPr>
          <p:spPr>
            <a:xfrm>
              <a:off x="8489950" y="3513139"/>
              <a:ext cx="63500" cy="63500"/>
            </a:xfrm>
            <a:prstGeom prst="ellipse">
              <a:avLst/>
            </a:prstGeom>
            <a:solidFill>
              <a:srgbClr val="E76F51"/>
            </a:solidFill>
            <a:ln>
              <a:noFill/>
            </a:ln>
          </p:spPr>
        </p:sp>
      </p:grpSp>
      <p:sp>
        <p:nvSpPr>
          <p:cNvPr id="48" name="Text">
            <a:extLst>
              <a:ext uri="{FF2B5EF4-FFF2-40B4-BE49-F238E27FC236}">
                <a16:creationId xmlns:a16="http://schemas.microsoft.com/office/drawing/2014/main" id="{9F504A6D-1712-4EC6-AF41-F0CD9C38D70A}"/>
              </a:ext>
            </a:extLst>
          </p:cNvPr>
          <p:cNvSpPr txBox="1"/>
          <p:nvPr/>
        </p:nvSpPr>
        <p:spPr>
          <a:xfrm>
            <a:off x="711200" y="342900"/>
            <a:ext cx="825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rgbClr val="102033"/>
                </a:solidFill>
                <a:latin typeface="Segoe UI"/>
                <a:cs typeface="Segoe UI"/>
              </a:rPr>
              <a:t>Как обучалась модель</a:t>
            </a:r>
          </a:p>
        </p:txBody>
      </p:sp>
      <p:sp>
        <p:nvSpPr>
          <p:cNvPr id="36" name="Ellipse">
            <a:extLst>
              <a:ext uri="{FF2B5EF4-FFF2-40B4-BE49-F238E27FC236}">
                <a16:creationId xmlns:a16="http://schemas.microsoft.com/office/drawing/2014/main" id="{3EEC525D-259F-44A5-BB67-669E7CD50C8F}"/>
              </a:ext>
            </a:extLst>
          </p:cNvPr>
          <p:cNvSpPr/>
          <p:nvPr/>
        </p:nvSpPr>
        <p:spPr>
          <a:xfrm>
            <a:off x="8489950" y="4570948"/>
            <a:ext cx="63500" cy="63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4746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711200" y="342900"/>
            <a:ext cx="825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chemeClr val="tx1"/>
                </a:solidFill>
                <a:latin typeface="Segoe UI"/>
                <a:cs typeface="Segoe UI"/>
              </a:rPr>
              <a:t>Количественные результаты</a:t>
            </a:r>
            <a:r>
              <a:rPr lang="en-US" sz="3000" b="1" dirty="0">
                <a:solidFill>
                  <a:schemeClr val="tx1"/>
                </a:solidFill>
                <a:latin typeface="Segoe UI"/>
                <a:cs typeface="Segoe UI"/>
              </a:rPr>
              <a:t>. </a:t>
            </a:r>
            <a:r>
              <a:rPr lang="en-US" sz="3000" b="1" dirty="0" err="1">
                <a:solidFill>
                  <a:schemeClr val="tx1"/>
                </a:solidFill>
                <a:latin typeface="Segoe UI"/>
                <a:cs typeface="Segoe UI"/>
              </a:rPr>
              <a:t>QwenScore</a:t>
            </a:r>
            <a:endParaRPr lang="ru-RU" sz="3000" b="1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9" name="Card"/>
          <p:cNvSpPr/>
          <p:nvPr/>
        </p:nvSpPr>
        <p:spPr>
          <a:xfrm>
            <a:off x="571500" y="1555750"/>
            <a:ext cx="5270500" cy="3429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793750" y="1733550"/>
            <a:ext cx="3175000" cy="301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 err="1">
                <a:solidFill>
                  <a:srgbClr val="102033"/>
                </a:solidFill>
                <a:latin typeface="Segoe UI"/>
                <a:cs typeface="Segoe UI"/>
              </a:rPr>
              <a:t>DrawBench</a:t>
            </a:r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 </a:t>
            </a:r>
            <a:r>
              <a:rPr lang="ru-RU" sz="2100" b="1" dirty="0" err="1">
                <a:solidFill>
                  <a:srgbClr val="102033"/>
                </a:solidFill>
                <a:latin typeface="Segoe UI"/>
                <a:cs typeface="Segoe UI"/>
              </a:rPr>
              <a:t>full</a:t>
            </a:r>
            <a:endParaRPr lang="ru-RU" sz="2100" b="1" dirty="0">
              <a:solidFill>
                <a:srgbClr val="102033"/>
              </a:solidFill>
              <a:latin typeface="Segoe UI"/>
              <a:cs typeface="Segoe UI"/>
            </a:endParaRPr>
          </a:p>
        </p:txBody>
      </p:sp>
      <p:cxnSp>
        <p:nvCxnSpPr>
          <p:cNvPr id="11" name="Line"/>
          <p:cNvCxnSpPr/>
          <p:nvPr/>
        </p:nvCxnSpPr>
        <p:spPr>
          <a:xfrm>
            <a:off x="1016000" y="4381500"/>
            <a:ext cx="4572000" cy="6350"/>
          </a:xfrm>
          <a:prstGeom prst="line">
            <a:avLst/>
          </a:prstGeom>
          <a:ln w="12700">
            <a:solidFill>
              <a:srgbClr val="A4B0C2"/>
            </a:solidFill>
          </a:ln>
        </p:spPr>
      </p:cxnSp>
      <p:cxnSp>
        <p:nvCxnSpPr>
          <p:cNvPr id="12" name="Line"/>
          <p:cNvCxnSpPr/>
          <p:nvPr/>
        </p:nvCxnSpPr>
        <p:spPr>
          <a:xfrm>
            <a:off x="1016000" y="4381500"/>
            <a:ext cx="4572000" cy="6350"/>
          </a:xfrm>
          <a:prstGeom prst="line">
            <a:avLst/>
          </a:prstGeom>
          <a:ln w="6350">
            <a:solidFill>
              <a:srgbClr val="E8EDF4"/>
            </a:solidFill>
          </a:ln>
        </p:spPr>
      </p:cxnSp>
      <p:sp>
        <p:nvSpPr>
          <p:cNvPr id="13" name="Text"/>
          <p:cNvSpPr txBox="1"/>
          <p:nvPr/>
        </p:nvSpPr>
        <p:spPr>
          <a:xfrm>
            <a:off x="685800" y="4305300"/>
            <a:ext cx="279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000" dirty="0">
                <a:solidFill>
                  <a:srgbClr val="526278"/>
                </a:solidFill>
                <a:latin typeface="Segoe UI"/>
                <a:cs typeface="Segoe UI"/>
              </a:rPr>
              <a:t>4.2</a:t>
            </a:r>
          </a:p>
        </p:txBody>
      </p:sp>
      <p:cxnSp>
        <p:nvCxnSpPr>
          <p:cNvPr id="14" name="Line"/>
          <p:cNvCxnSpPr/>
          <p:nvPr/>
        </p:nvCxnSpPr>
        <p:spPr>
          <a:xfrm>
            <a:off x="1016000" y="3317875"/>
            <a:ext cx="4572000" cy="6350"/>
          </a:xfrm>
          <a:prstGeom prst="line">
            <a:avLst/>
          </a:prstGeom>
          <a:ln w="6350">
            <a:solidFill>
              <a:srgbClr val="E8EDF4"/>
            </a:solidFill>
          </a:ln>
        </p:spPr>
      </p:cxnSp>
      <p:sp>
        <p:nvSpPr>
          <p:cNvPr id="15" name="Text"/>
          <p:cNvSpPr txBox="1"/>
          <p:nvPr/>
        </p:nvSpPr>
        <p:spPr>
          <a:xfrm>
            <a:off x="685800" y="3241675"/>
            <a:ext cx="279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000" dirty="0">
                <a:solidFill>
                  <a:srgbClr val="526278"/>
                </a:solidFill>
                <a:latin typeface="Segoe UI"/>
                <a:cs typeface="Segoe UI"/>
              </a:rPr>
              <a:t>4.5</a:t>
            </a:r>
          </a:p>
        </p:txBody>
      </p:sp>
      <p:sp>
        <p:nvSpPr>
          <p:cNvPr id="18" name="Shape"/>
          <p:cNvSpPr/>
          <p:nvPr/>
        </p:nvSpPr>
        <p:spPr>
          <a:xfrm>
            <a:off x="1206500" y="3512873"/>
            <a:ext cx="904875" cy="868627"/>
          </a:xfrm>
          <a:prstGeom prst="roundRect">
            <a:avLst/>
          </a:prstGeom>
          <a:solidFill>
            <a:srgbClr val="A6B5CA"/>
          </a:solidFill>
          <a:ln>
            <a:noFill/>
          </a:ln>
        </p:spPr>
      </p:sp>
      <p:sp>
        <p:nvSpPr>
          <p:cNvPr id="19" name="Text"/>
          <p:cNvSpPr txBox="1"/>
          <p:nvPr/>
        </p:nvSpPr>
        <p:spPr>
          <a:xfrm>
            <a:off x="1206500" y="3297635"/>
            <a:ext cx="904875" cy="157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200" dirty="0">
                <a:solidFill>
                  <a:srgbClr val="102033"/>
                </a:solidFill>
                <a:latin typeface="Segoe UI"/>
                <a:cs typeface="Segoe UI"/>
              </a:rPr>
              <a:t>4.45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06500" y="4451350"/>
            <a:ext cx="904875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SD</a:t>
            </a:r>
          </a:p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DM</a:t>
            </a:r>
          </a:p>
        </p:txBody>
      </p:sp>
      <p:sp>
        <p:nvSpPr>
          <p:cNvPr id="21" name="Shape"/>
          <p:cNvSpPr/>
          <p:nvPr/>
        </p:nvSpPr>
        <p:spPr>
          <a:xfrm>
            <a:off x="2301875" y="3098800"/>
            <a:ext cx="904875" cy="1276350"/>
          </a:xfrm>
          <a:prstGeom prst="roundRect">
            <a:avLst/>
          </a:prstGeom>
          <a:solidFill>
            <a:srgbClr val="2C69C9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2301874" y="2886749"/>
            <a:ext cx="904875" cy="1517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200" dirty="0">
                <a:solidFill>
                  <a:srgbClr val="102033"/>
                </a:solidFill>
                <a:latin typeface="Segoe UI"/>
                <a:cs typeface="Segoe UI"/>
              </a:rPr>
              <a:t>4.56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2301875" y="4451350"/>
            <a:ext cx="904875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SD</a:t>
            </a:r>
          </a:p>
          <a:p>
            <a:pPr algn="ctr">
              <a:lnSpc>
                <a:spcPct val="80000"/>
              </a:lnSpc>
            </a:pPr>
            <a:r>
              <a:rPr lang="ru-RU" sz="1200" dirty="0" err="1">
                <a:solidFill>
                  <a:schemeClr val="tx1"/>
                </a:solidFill>
                <a:latin typeface="Segoe UI"/>
                <a:cs typeface="Segoe UI"/>
              </a:rPr>
              <a:t>AsynDM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24" name="Shape"/>
          <p:cNvSpPr/>
          <p:nvPr/>
        </p:nvSpPr>
        <p:spPr>
          <a:xfrm>
            <a:off x="3397250" y="2840700"/>
            <a:ext cx="904875" cy="15408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25" name="Text"/>
          <p:cNvSpPr txBox="1"/>
          <p:nvPr/>
        </p:nvSpPr>
        <p:spPr>
          <a:xfrm>
            <a:off x="3397250" y="2616199"/>
            <a:ext cx="904875" cy="1628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200" dirty="0">
                <a:solidFill>
                  <a:srgbClr val="102033"/>
                </a:solidFill>
                <a:latin typeface="Segoe UI"/>
                <a:cs typeface="Segoe UI"/>
              </a:rPr>
              <a:t>4.63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3397250" y="4451350"/>
            <a:ext cx="904875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80000"/>
              </a:lnSpc>
            </a:pPr>
            <a:r>
              <a:rPr lang="ru-RU" sz="1200" dirty="0" err="1">
                <a:solidFill>
                  <a:schemeClr val="tx1"/>
                </a:solidFill>
                <a:latin typeface="Segoe UI"/>
                <a:cs typeface="Segoe UI"/>
              </a:rPr>
              <a:t>Asyn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LAION-SAM</a:t>
            </a:r>
          </a:p>
        </p:txBody>
      </p:sp>
      <p:sp>
        <p:nvSpPr>
          <p:cNvPr id="27" name="Shape"/>
          <p:cNvSpPr/>
          <p:nvPr/>
        </p:nvSpPr>
        <p:spPr>
          <a:xfrm>
            <a:off x="4492625" y="2910152"/>
            <a:ext cx="904875" cy="147134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4492625" y="2697626"/>
            <a:ext cx="904875" cy="1628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200" dirty="0">
                <a:solidFill>
                  <a:srgbClr val="102033"/>
                </a:solidFill>
                <a:latin typeface="Segoe UI"/>
                <a:cs typeface="Segoe UI"/>
              </a:rPr>
              <a:t>4.62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4479925" y="4445000"/>
            <a:ext cx="933451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80000"/>
              </a:lnSpc>
            </a:pPr>
            <a:r>
              <a:rPr lang="ru-RU" sz="1200" dirty="0" err="1">
                <a:solidFill>
                  <a:schemeClr val="tx1"/>
                </a:solidFill>
                <a:latin typeface="Segoe UI"/>
                <a:cs typeface="Segoe UI"/>
              </a:rPr>
              <a:t>Asyn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LAION-RMBG</a:t>
            </a:r>
          </a:p>
        </p:txBody>
      </p:sp>
      <p:sp>
        <p:nvSpPr>
          <p:cNvPr id="54" name="Card"/>
          <p:cNvSpPr/>
          <p:nvPr/>
        </p:nvSpPr>
        <p:spPr>
          <a:xfrm>
            <a:off x="6350000" y="1555750"/>
            <a:ext cx="5270500" cy="3429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sp>
        <p:nvSpPr>
          <p:cNvPr id="55" name="Text"/>
          <p:cNvSpPr txBox="1"/>
          <p:nvPr/>
        </p:nvSpPr>
        <p:spPr>
          <a:xfrm>
            <a:off x="6572250" y="1733550"/>
            <a:ext cx="3175000" cy="301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 err="1">
                <a:solidFill>
                  <a:srgbClr val="102033"/>
                </a:solidFill>
                <a:latin typeface="Segoe UI"/>
                <a:cs typeface="Segoe UI"/>
              </a:rPr>
              <a:t>Animal Activity</a:t>
            </a:r>
            <a:endParaRPr lang="ru-RU" sz="2100" b="1" dirty="0">
              <a:solidFill>
                <a:srgbClr val="102033"/>
              </a:solidFill>
              <a:latin typeface="Segoe UI"/>
              <a:cs typeface="Segoe UI"/>
            </a:endParaRPr>
          </a:p>
        </p:txBody>
      </p:sp>
      <p:cxnSp>
        <p:nvCxnSpPr>
          <p:cNvPr id="56" name="Line"/>
          <p:cNvCxnSpPr/>
          <p:nvPr/>
        </p:nvCxnSpPr>
        <p:spPr>
          <a:xfrm>
            <a:off x="6794500" y="4381500"/>
            <a:ext cx="4572000" cy="6350"/>
          </a:xfrm>
          <a:prstGeom prst="line">
            <a:avLst/>
          </a:prstGeom>
          <a:ln w="12700">
            <a:solidFill>
              <a:srgbClr val="A4B0C2"/>
            </a:solidFill>
          </a:ln>
        </p:spPr>
      </p:cxnSp>
      <p:cxnSp>
        <p:nvCxnSpPr>
          <p:cNvPr id="57" name="Line"/>
          <p:cNvCxnSpPr/>
          <p:nvPr/>
        </p:nvCxnSpPr>
        <p:spPr>
          <a:xfrm>
            <a:off x="6794500" y="4381500"/>
            <a:ext cx="4572000" cy="6350"/>
          </a:xfrm>
          <a:prstGeom prst="line">
            <a:avLst/>
          </a:prstGeom>
          <a:ln w="6350">
            <a:solidFill>
              <a:srgbClr val="E8EDF4"/>
            </a:solidFill>
          </a:ln>
        </p:spPr>
      </p:cxnSp>
      <p:sp>
        <p:nvSpPr>
          <p:cNvPr id="58" name="Text"/>
          <p:cNvSpPr txBox="1"/>
          <p:nvPr/>
        </p:nvSpPr>
        <p:spPr>
          <a:xfrm>
            <a:off x="6464300" y="4305300"/>
            <a:ext cx="279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000" dirty="0">
                <a:solidFill>
                  <a:srgbClr val="526278"/>
                </a:solidFill>
                <a:latin typeface="Segoe UI"/>
                <a:cs typeface="Segoe UI"/>
              </a:rPr>
              <a:t>4.5</a:t>
            </a:r>
          </a:p>
        </p:txBody>
      </p:sp>
      <p:cxnSp>
        <p:nvCxnSpPr>
          <p:cNvPr id="59" name="Line"/>
          <p:cNvCxnSpPr/>
          <p:nvPr/>
        </p:nvCxnSpPr>
        <p:spPr>
          <a:xfrm>
            <a:off x="6794500" y="3317875"/>
            <a:ext cx="4572000" cy="6350"/>
          </a:xfrm>
          <a:prstGeom prst="line">
            <a:avLst/>
          </a:prstGeom>
          <a:ln w="6350">
            <a:solidFill>
              <a:srgbClr val="E8EDF4"/>
            </a:solidFill>
          </a:ln>
        </p:spPr>
      </p:cxnSp>
      <p:sp>
        <p:nvSpPr>
          <p:cNvPr id="60" name="Text"/>
          <p:cNvSpPr txBox="1"/>
          <p:nvPr/>
        </p:nvSpPr>
        <p:spPr>
          <a:xfrm>
            <a:off x="6464300" y="3241675"/>
            <a:ext cx="279400" cy="139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000" dirty="0">
                <a:solidFill>
                  <a:srgbClr val="526278"/>
                </a:solidFill>
                <a:latin typeface="Segoe UI"/>
                <a:cs typeface="Segoe UI"/>
              </a:rPr>
              <a:t>5.2</a:t>
            </a:r>
          </a:p>
        </p:txBody>
      </p:sp>
      <p:sp>
        <p:nvSpPr>
          <p:cNvPr id="61" name="Shape"/>
          <p:cNvSpPr/>
          <p:nvPr/>
        </p:nvSpPr>
        <p:spPr>
          <a:xfrm>
            <a:off x="6900000" y="2644164"/>
            <a:ext cx="760000" cy="1737336"/>
          </a:xfrm>
          <a:prstGeom prst="roundRect">
            <a:avLst/>
          </a:prstGeom>
          <a:solidFill>
            <a:srgbClr val="A6B5CA"/>
          </a:solidFill>
          <a:ln>
            <a:noFill/>
          </a:ln>
        </p:spPr>
      </p:sp>
      <p:sp>
        <p:nvSpPr>
          <p:cNvPr id="62" name="Text"/>
          <p:cNvSpPr txBox="1"/>
          <p:nvPr/>
        </p:nvSpPr>
        <p:spPr>
          <a:xfrm>
            <a:off x="6900000" y="2439164"/>
            <a:ext cx="760000" cy="157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200" dirty="0">
                <a:solidFill>
                  <a:srgbClr val="102033"/>
                </a:solidFill>
                <a:latin typeface="Segoe UI"/>
                <a:cs typeface="Segoe UI"/>
              </a:rPr>
              <a:t>5.525</a:t>
            </a:r>
          </a:p>
        </p:txBody>
      </p:sp>
      <p:sp>
        <p:nvSpPr>
          <p:cNvPr id="63" name="Text"/>
          <p:cNvSpPr txBox="1"/>
          <p:nvPr/>
        </p:nvSpPr>
        <p:spPr>
          <a:xfrm>
            <a:off x="6900000" y="4445000"/>
            <a:ext cx="760000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SD</a:t>
            </a:r>
          </a:p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DM</a:t>
            </a:r>
          </a:p>
        </p:txBody>
      </p:sp>
      <p:sp>
        <p:nvSpPr>
          <p:cNvPr id="64" name="Shape"/>
          <p:cNvSpPr/>
          <p:nvPr/>
        </p:nvSpPr>
        <p:spPr>
          <a:xfrm>
            <a:off x="7810000" y="2559416"/>
            <a:ext cx="760000" cy="1822084"/>
          </a:xfrm>
          <a:prstGeom prst="roundRect">
            <a:avLst/>
          </a:prstGeom>
          <a:solidFill>
            <a:srgbClr val="2C69C9"/>
          </a:solidFill>
          <a:ln>
            <a:noFill/>
          </a:ln>
        </p:spPr>
      </p:sp>
      <p:sp>
        <p:nvSpPr>
          <p:cNvPr id="65" name="Text"/>
          <p:cNvSpPr txBox="1"/>
          <p:nvPr/>
        </p:nvSpPr>
        <p:spPr>
          <a:xfrm>
            <a:off x="7810000" y="2354416"/>
            <a:ext cx="760000" cy="1517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200" dirty="0">
                <a:solidFill>
                  <a:srgbClr val="102033"/>
                </a:solidFill>
                <a:latin typeface="Segoe UI"/>
                <a:cs typeface="Segoe UI"/>
              </a:rPr>
              <a:t>5.575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7810000" y="4445000"/>
            <a:ext cx="760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80000"/>
              </a:lnSpc>
            </a:pPr>
            <a:r>
              <a:rPr lang="ru-RU" sz="1050" dirty="0">
                <a:solidFill>
                  <a:schemeClr val="tx1"/>
                </a:solidFill>
                <a:latin typeface="Segoe UI"/>
                <a:cs typeface="Segoe UI"/>
              </a:rPr>
              <a:t>S</a:t>
            </a: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D</a:t>
            </a:r>
          </a:p>
          <a:p>
            <a:pPr algn="ctr">
              <a:lnSpc>
                <a:spcPct val="80000"/>
              </a:lnSpc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AsynDM</a:t>
            </a:r>
          </a:p>
        </p:txBody>
      </p:sp>
      <p:sp>
        <p:nvSpPr>
          <p:cNvPr id="67" name="Shape"/>
          <p:cNvSpPr/>
          <p:nvPr/>
        </p:nvSpPr>
        <p:spPr>
          <a:xfrm>
            <a:off x="8720000" y="4000134"/>
            <a:ext cx="760000" cy="381366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68" name="Text"/>
          <p:cNvSpPr txBox="1"/>
          <p:nvPr/>
        </p:nvSpPr>
        <p:spPr>
          <a:xfrm>
            <a:off x="8720000" y="3795134"/>
            <a:ext cx="760000" cy="1628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200" dirty="0">
                <a:solidFill>
                  <a:srgbClr val="102033"/>
                </a:solidFill>
                <a:latin typeface="Segoe UI"/>
                <a:cs typeface="Segoe UI"/>
              </a:rPr>
              <a:t>4.725</a:t>
            </a:r>
          </a:p>
        </p:txBody>
      </p:sp>
      <p:sp>
        <p:nvSpPr>
          <p:cNvPr id="69" name="Text"/>
          <p:cNvSpPr txBox="1"/>
          <p:nvPr/>
        </p:nvSpPr>
        <p:spPr>
          <a:xfrm>
            <a:off x="8570000" y="4445000"/>
            <a:ext cx="1013614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80000"/>
              </a:lnSpc>
            </a:pPr>
            <a:r>
              <a:rPr lang="ru-RU" sz="1200" dirty="0" err="1">
                <a:solidFill>
                  <a:schemeClr val="tx1"/>
                </a:solidFill>
                <a:latin typeface="Segoe UI"/>
                <a:cs typeface="Segoe UI"/>
              </a:rPr>
              <a:t>Asyn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  <a:p>
            <a:pPr algn="ctr">
              <a:lnSpc>
                <a:spcPct val="80000"/>
              </a:lnSpc>
            </a:pPr>
            <a:r>
              <a:rPr lang="ru-RU" sz="1200" dirty="0" err="1">
                <a:solidFill>
                  <a:schemeClr val="tx1"/>
                </a:solidFill>
                <a:latin typeface="Segoe UI"/>
                <a:cs typeface="Segoe UI"/>
              </a:rPr>
              <a:t>LAION-SAM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0" name="Shape"/>
          <p:cNvSpPr/>
          <p:nvPr/>
        </p:nvSpPr>
        <p:spPr>
          <a:xfrm>
            <a:off x="9630000" y="3449271"/>
            <a:ext cx="760000" cy="932229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71" name="Text"/>
          <p:cNvSpPr txBox="1"/>
          <p:nvPr/>
        </p:nvSpPr>
        <p:spPr>
          <a:xfrm>
            <a:off x="9630000" y="3244271"/>
            <a:ext cx="760000" cy="1628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200" dirty="0">
                <a:solidFill>
                  <a:srgbClr val="102033"/>
                </a:solidFill>
                <a:latin typeface="Segoe UI"/>
                <a:cs typeface="Segoe UI"/>
              </a:rPr>
              <a:t>5.05</a:t>
            </a:r>
          </a:p>
        </p:txBody>
      </p:sp>
      <p:sp>
        <p:nvSpPr>
          <p:cNvPr id="72" name="Text"/>
          <p:cNvSpPr txBox="1"/>
          <p:nvPr/>
        </p:nvSpPr>
        <p:spPr>
          <a:xfrm>
            <a:off x="9583614" y="4445000"/>
            <a:ext cx="956386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80000"/>
              </a:lnSpc>
            </a:pPr>
            <a:r>
              <a:rPr lang="ru-RU" sz="1200" dirty="0" err="1">
                <a:solidFill>
                  <a:schemeClr val="tx1"/>
                </a:solidFill>
                <a:latin typeface="Segoe UI"/>
                <a:cs typeface="Segoe UI"/>
              </a:rPr>
              <a:t>Asyn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  <a:p>
            <a:pPr algn="ctr">
              <a:lnSpc>
                <a:spcPct val="80000"/>
              </a:lnSpc>
            </a:pPr>
            <a:r>
              <a:rPr lang="ru-RU" sz="1200" dirty="0" err="1">
                <a:solidFill>
                  <a:schemeClr val="tx1"/>
                </a:solidFill>
                <a:latin typeface="Segoe UI"/>
                <a:cs typeface="Segoe UI"/>
              </a:rPr>
              <a:t>LAION-RMBG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46" name="Shape">
            <a:extLst>
              <a:ext uri="{FF2B5EF4-FFF2-40B4-BE49-F238E27FC236}">
                <a16:creationId xmlns:a16="http://schemas.microsoft.com/office/drawing/2014/main" id="{EC85444C-9101-442E-9BDB-74CED92F5404}"/>
              </a:ext>
            </a:extLst>
          </p:cNvPr>
          <p:cNvSpPr/>
          <p:nvPr/>
        </p:nvSpPr>
        <p:spPr>
          <a:xfrm>
            <a:off x="571500" y="5270500"/>
            <a:ext cx="10922000" cy="1018658"/>
          </a:xfrm>
          <a:prstGeom prst="roundRect">
            <a:avLst/>
          </a:prstGeom>
          <a:solidFill>
            <a:srgbClr val="E8F7F6"/>
          </a:solidFill>
          <a:ln w="6350">
            <a:solidFill>
              <a:srgbClr val="B5E2DE"/>
            </a:solidFill>
          </a:ln>
        </p:spPr>
      </p:sp>
      <p:sp>
        <p:nvSpPr>
          <p:cNvPr id="47" name="Text">
            <a:extLst>
              <a:ext uri="{FF2B5EF4-FFF2-40B4-BE49-F238E27FC236}">
                <a16:creationId xmlns:a16="http://schemas.microsoft.com/office/drawing/2014/main" id="{342671B9-72ED-413A-BB3D-03951E9F4DEB}"/>
              </a:ext>
            </a:extLst>
          </p:cNvPr>
          <p:cNvSpPr txBox="1"/>
          <p:nvPr/>
        </p:nvSpPr>
        <p:spPr>
          <a:xfrm>
            <a:off x="825499" y="5461000"/>
            <a:ext cx="781051" cy="292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600" b="1" dirty="0">
                <a:solidFill>
                  <a:srgbClr val="0E8F87"/>
                </a:solidFill>
                <a:latin typeface="Segoe UI"/>
                <a:cs typeface="Segoe UI"/>
              </a:rPr>
              <a:t>Вывод:</a:t>
            </a:r>
          </a:p>
        </p:txBody>
      </p:sp>
      <p:sp>
        <p:nvSpPr>
          <p:cNvPr id="48" name="Text">
            <a:extLst>
              <a:ext uri="{FF2B5EF4-FFF2-40B4-BE49-F238E27FC236}">
                <a16:creationId xmlns:a16="http://schemas.microsoft.com/office/drawing/2014/main" id="{741E8422-EC66-4117-B0FD-4B4C8BBC3B33}"/>
              </a:ext>
            </a:extLst>
          </p:cNvPr>
          <p:cNvSpPr txBox="1"/>
          <p:nvPr/>
        </p:nvSpPr>
        <p:spPr>
          <a:xfrm>
            <a:off x="1860549" y="5461000"/>
            <a:ext cx="9029701" cy="5639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just"/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асинхронное обучение дает прирост на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DrawBench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, но нестабильно на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Animal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Activity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; </a:t>
            </a:r>
            <a:b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</a:b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результат зависит от выбора масок и тестовых промптов</a:t>
            </a:r>
          </a:p>
        </p:txBody>
      </p:sp>
      <p:sp>
        <p:nvSpPr>
          <p:cNvPr id="73" name="Shape"/>
          <p:cNvSpPr/>
          <p:nvPr/>
        </p:nvSpPr>
        <p:spPr>
          <a:xfrm>
            <a:off x="10540000" y="3957760"/>
            <a:ext cx="760000" cy="4237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74" name="Text"/>
          <p:cNvSpPr txBox="1"/>
          <p:nvPr/>
        </p:nvSpPr>
        <p:spPr>
          <a:xfrm>
            <a:off x="10540000" y="3752760"/>
            <a:ext cx="760000" cy="1628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1200" dirty="0">
                <a:solidFill>
                  <a:srgbClr val="102033"/>
                </a:solidFill>
                <a:latin typeface="Segoe UI"/>
                <a:cs typeface="Segoe UI"/>
              </a:rPr>
              <a:t>4.75</a:t>
            </a:r>
          </a:p>
        </p:txBody>
      </p:sp>
      <p:sp>
        <p:nvSpPr>
          <p:cNvPr id="75" name="Text"/>
          <p:cNvSpPr txBox="1"/>
          <p:nvPr/>
        </p:nvSpPr>
        <p:spPr>
          <a:xfrm>
            <a:off x="10540000" y="4445000"/>
            <a:ext cx="76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80000"/>
              </a:lnSpc>
            </a:pPr>
            <a:r>
              <a:rPr lang="ru-RU" sz="1200" dirty="0" err="1">
                <a:solidFill>
                  <a:schemeClr val="tx1"/>
                </a:solidFill>
                <a:latin typeface="Segoe UI"/>
                <a:cs typeface="Segoe UI"/>
              </a:rPr>
              <a:t>Asyn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  <a:p>
            <a:pPr algn="ctr">
              <a:lnSpc>
                <a:spcPct val="80000"/>
              </a:lnSpc>
            </a:pPr>
            <a:r>
              <a:rPr lang="ru-RU" sz="1200" dirty="0" err="1">
                <a:solidFill>
                  <a:schemeClr val="tx1"/>
                </a:solidFill>
                <a:latin typeface="Segoe UI"/>
                <a:cs typeface="Segoe UI"/>
              </a:rPr>
              <a:t>COCO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ackground">
            <a:extLst>
              <a:ext uri="{FF2B5EF4-FFF2-40B4-BE49-F238E27FC236}">
                <a16:creationId xmlns:a16="http://schemas.microsoft.com/office/drawing/2014/main" id="{4904D49B-F953-4190-B4CE-07A64DF393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3" name="Image frame">
            <a:extLst>
              <a:ext uri="{FF2B5EF4-FFF2-40B4-BE49-F238E27FC236}">
                <a16:creationId xmlns:a16="http://schemas.microsoft.com/office/drawing/2014/main" id="{1291B3DB-38A9-4320-98D2-57E925F85018}"/>
              </a:ext>
            </a:extLst>
          </p:cNvPr>
          <p:cNvSpPr/>
          <p:nvPr/>
        </p:nvSpPr>
        <p:spPr>
          <a:xfrm>
            <a:off x="2295525" y="4781452"/>
            <a:ext cx="8671959" cy="1501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711200" y="342900"/>
            <a:ext cx="825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chemeClr val="tx1"/>
                </a:solidFill>
                <a:latin typeface="Segoe UI"/>
                <a:cs typeface="Segoe UI"/>
              </a:rPr>
              <a:t>Качественные результаты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2476500" y="1358900"/>
            <a:ext cx="1066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600" b="1" dirty="0">
                <a:solidFill>
                  <a:srgbClr val="102033"/>
                </a:solidFill>
                <a:latin typeface="Segoe UI"/>
                <a:cs typeface="Segoe UI"/>
              </a:rPr>
              <a:t>SD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3736497" y="1358899"/>
            <a:ext cx="2232501" cy="2286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600" b="1" dirty="0">
                <a:solidFill>
                  <a:srgbClr val="102033"/>
                </a:solidFill>
                <a:latin typeface="Segoe UI"/>
                <a:cs typeface="Segoe UI"/>
              </a:rPr>
              <a:t>SD + </a:t>
            </a:r>
            <a:r>
              <a:rPr lang="en-US" sz="1600" b="1" dirty="0" err="1">
                <a:solidFill>
                  <a:srgbClr val="102033"/>
                </a:solidFill>
                <a:latin typeface="Segoe UI"/>
                <a:cs typeface="Segoe UI"/>
              </a:rPr>
              <a:t>AsynDM</a:t>
            </a:r>
            <a:endParaRPr lang="en-US" sz="1600" b="1" dirty="0">
              <a:solidFill>
                <a:srgbClr val="102033"/>
              </a:solidFill>
              <a:latin typeface="Segoe UI"/>
              <a:cs typeface="Segoe UI"/>
            </a:endParaRPr>
          </a:p>
        </p:txBody>
      </p:sp>
      <p:sp>
        <p:nvSpPr>
          <p:cNvPr id="47" name="Text"/>
          <p:cNvSpPr txBox="1"/>
          <p:nvPr/>
        </p:nvSpPr>
        <p:spPr>
          <a:xfrm>
            <a:off x="5968999" y="1358900"/>
            <a:ext cx="1259999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600" b="1" dirty="0">
                <a:solidFill>
                  <a:srgbClr val="102033"/>
                </a:solidFill>
                <a:latin typeface="Segoe UI"/>
                <a:cs typeface="Segoe UI"/>
              </a:rPr>
              <a:t>LAION-SAM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7228998" y="1358900"/>
            <a:ext cx="2232502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600" b="1" dirty="0">
                <a:solidFill>
                  <a:srgbClr val="102033"/>
                </a:solidFill>
                <a:latin typeface="Segoe UI"/>
                <a:cs typeface="Segoe UI"/>
              </a:rPr>
              <a:t>LAION-RMBG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9461500" y="1358900"/>
            <a:ext cx="1259998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600" b="1" dirty="0">
                <a:solidFill>
                  <a:srgbClr val="102033"/>
                </a:solidFill>
                <a:latin typeface="Segoe UI"/>
                <a:cs typeface="Segoe UI"/>
              </a:rPr>
              <a:t>COCO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9694215-0503-427B-AED5-E1F92E5C2284}"/>
              </a:ext>
            </a:extLst>
          </p:cNvPr>
          <p:cNvGrpSpPr/>
          <p:nvPr/>
        </p:nvGrpSpPr>
        <p:grpSpPr>
          <a:xfrm>
            <a:off x="444500" y="1855549"/>
            <a:ext cx="1605041" cy="825500"/>
            <a:chOff x="508000" y="1854200"/>
            <a:chExt cx="1605041" cy="825500"/>
          </a:xfrm>
        </p:grpSpPr>
        <p:sp>
          <p:nvSpPr>
            <p:cNvPr id="50" name="Prompt card"/>
            <p:cNvSpPr/>
            <p:nvPr/>
          </p:nvSpPr>
          <p:spPr>
            <a:xfrm>
              <a:off x="508000" y="1854200"/>
              <a:ext cx="1605041" cy="82550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AF1"/>
              </a:solidFill>
            </a:ln>
          </p:spPr>
        </p:sp>
        <p:sp>
          <p:nvSpPr>
            <p:cNvPr id="51" name="Text"/>
            <p:cNvSpPr txBox="1"/>
            <p:nvPr/>
          </p:nvSpPr>
          <p:spPr>
            <a:xfrm>
              <a:off x="652501" y="2025060"/>
              <a:ext cx="1316038" cy="4837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just"/>
              <a:r>
                <a:rPr lang="en-US" sz="1600" dirty="0">
                  <a:solidFill>
                    <a:srgbClr val="102033"/>
                  </a:solidFill>
                  <a:latin typeface="Segoe UI"/>
                  <a:cs typeface="Segoe UI"/>
                </a:rPr>
                <a:t>a dog playing basketball</a:t>
              </a:r>
            </a:p>
          </p:txBody>
        </p:sp>
      </p:grpSp>
      <p:sp>
        <p:nvSpPr>
          <p:cNvPr id="53" name="Image frame"/>
          <p:cNvSpPr/>
          <p:nvPr/>
        </p:nvSpPr>
        <p:spPr>
          <a:xfrm>
            <a:off x="2295525" y="1606551"/>
            <a:ext cx="8671959" cy="1501299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</p:sp>
      <p:pic>
        <p:nvPicPr>
          <p:cNvPr id="54" name="qual_do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727199"/>
            <a:ext cx="1290808" cy="1260000"/>
          </a:xfrm>
          <a:prstGeom prst="rect">
            <a:avLst/>
          </a:prstGeom>
        </p:spPr>
      </p:pic>
      <p:pic>
        <p:nvPicPr>
          <p:cNvPr id="56" name="qual_do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750" y="1727200"/>
            <a:ext cx="1260000" cy="1260000"/>
          </a:xfrm>
          <a:prstGeom prst="rect">
            <a:avLst/>
          </a:prstGeom>
        </p:spPr>
      </p:pic>
      <p:pic>
        <p:nvPicPr>
          <p:cNvPr id="58" name="qual_dog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1727200"/>
            <a:ext cx="1260000" cy="1260000"/>
          </a:xfrm>
          <a:prstGeom prst="rect">
            <a:avLst/>
          </a:prstGeom>
          <a:effectLst>
            <a:glow rad="101600">
              <a:srgbClr val="0E8F87">
                <a:alpha val="50000"/>
              </a:srgbClr>
            </a:glow>
            <a:softEdge rad="0"/>
          </a:effectLst>
        </p:spPr>
      </p:pic>
      <p:pic>
        <p:nvPicPr>
          <p:cNvPr id="60" name="qual_dog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0" y="1727200"/>
            <a:ext cx="1260000" cy="1260000"/>
          </a:xfrm>
          <a:prstGeom prst="rect">
            <a:avLst/>
          </a:prstGeom>
          <a:effectLst>
            <a:glow rad="101600">
              <a:srgbClr val="0E8F87">
                <a:alpha val="50000"/>
              </a:srgbClr>
            </a:glow>
            <a:softEdge rad="0"/>
          </a:effectLst>
        </p:spPr>
      </p:pic>
      <p:pic>
        <p:nvPicPr>
          <p:cNvPr id="62" name="qual_dog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1500" y="1727200"/>
            <a:ext cx="1260000" cy="1260000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75C468A-F792-499D-9113-0D6F8BD81C09}"/>
              </a:ext>
            </a:extLst>
          </p:cNvPr>
          <p:cNvGrpSpPr/>
          <p:nvPr/>
        </p:nvGrpSpPr>
        <p:grpSpPr>
          <a:xfrm>
            <a:off x="444500" y="3443049"/>
            <a:ext cx="1605041" cy="825500"/>
            <a:chOff x="508000" y="3441700"/>
            <a:chExt cx="1605041" cy="825500"/>
          </a:xfrm>
        </p:grpSpPr>
        <p:sp>
          <p:nvSpPr>
            <p:cNvPr id="63" name="Prompt card"/>
            <p:cNvSpPr/>
            <p:nvPr/>
          </p:nvSpPr>
          <p:spPr>
            <a:xfrm>
              <a:off x="508000" y="3441700"/>
              <a:ext cx="1605041" cy="82550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AF1"/>
              </a:solidFill>
            </a:ln>
          </p:spPr>
        </p:sp>
        <p:sp>
          <p:nvSpPr>
            <p:cNvPr id="64" name="Text"/>
            <p:cNvSpPr txBox="1"/>
            <p:nvPr/>
          </p:nvSpPr>
          <p:spPr>
            <a:xfrm>
              <a:off x="652501" y="3590261"/>
              <a:ext cx="1316038" cy="5283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just"/>
              <a:r>
                <a:rPr lang="en-US" sz="1600" dirty="0">
                  <a:solidFill>
                    <a:srgbClr val="102033"/>
                  </a:solidFill>
                  <a:latin typeface="Segoe UI"/>
                  <a:cs typeface="Segoe UI"/>
                </a:rPr>
                <a:t>a pink colored giraffe</a:t>
              </a:r>
            </a:p>
          </p:txBody>
        </p:sp>
      </p:grpSp>
      <p:sp>
        <p:nvSpPr>
          <p:cNvPr id="66" name="Image frame"/>
          <p:cNvSpPr/>
          <p:nvPr/>
        </p:nvSpPr>
        <p:spPr>
          <a:xfrm>
            <a:off x="2295525" y="3194051"/>
            <a:ext cx="8671959" cy="1501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AF4"/>
            </a:solidFill>
          </a:ln>
        </p:spPr>
        <p:txBody>
          <a:bodyPr/>
          <a:lstStyle/>
          <a:p>
            <a:endParaRPr lang="ru-RU" dirty="0"/>
          </a:p>
        </p:txBody>
      </p:sp>
      <p:pic>
        <p:nvPicPr>
          <p:cNvPr id="67" name="qual_giraffe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0" y="3314700"/>
            <a:ext cx="1260000" cy="1260000"/>
          </a:xfrm>
          <a:prstGeom prst="rect">
            <a:avLst/>
          </a:prstGeom>
        </p:spPr>
      </p:pic>
      <p:pic>
        <p:nvPicPr>
          <p:cNvPr id="69" name="qual_giraffe_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2750" y="3314700"/>
            <a:ext cx="1260000" cy="1260000"/>
          </a:xfrm>
          <a:prstGeom prst="rect">
            <a:avLst/>
          </a:prstGeom>
        </p:spPr>
      </p:pic>
      <p:pic>
        <p:nvPicPr>
          <p:cNvPr id="71" name="qual_giraffe_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8998" y="3314700"/>
            <a:ext cx="1260000" cy="1260000"/>
          </a:xfrm>
          <a:prstGeom prst="rect">
            <a:avLst/>
          </a:prstGeom>
          <a:effectLst>
            <a:glow rad="101600">
              <a:srgbClr val="0E8F87">
                <a:alpha val="50000"/>
              </a:srgbClr>
            </a:glow>
            <a:softEdge rad="0"/>
          </a:effectLst>
        </p:spPr>
      </p:pic>
      <p:pic>
        <p:nvPicPr>
          <p:cNvPr id="73" name="qual_giraffe_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0" y="3314700"/>
            <a:ext cx="1260000" cy="1260000"/>
          </a:xfrm>
          <a:prstGeom prst="rect">
            <a:avLst/>
          </a:prstGeom>
          <a:effectLst>
            <a:glow rad="101600">
              <a:srgbClr val="0E8F87">
                <a:alpha val="50000"/>
              </a:srgbClr>
            </a:glow>
            <a:softEdge rad="0"/>
          </a:effectLst>
        </p:spPr>
      </p:pic>
      <p:pic>
        <p:nvPicPr>
          <p:cNvPr id="75" name="qual_giraffe_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1500" y="3314700"/>
            <a:ext cx="1260000" cy="1260000"/>
          </a:xfrm>
          <a:prstGeom prst="rect">
            <a:avLst/>
          </a:prstGeom>
          <a:effectLst>
            <a:glow rad="101600">
              <a:srgbClr val="0E8F87">
                <a:alpha val="50000"/>
              </a:srgbClr>
            </a:glow>
            <a:softEdge rad="0"/>
          </a:effectLst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5F108325-ED6B-4297-BB59-CB5B3CA5BC62}"/>
              </a:ext>
            </a:extLst>
          </p:cNvPr>
          <p:cNvGrpSpPr/>
          <p:nvPr/>
        </p:nvGrpSpPr>
        <p:grpSpPr>
          <a:xfrm>
            <a:off x="444500" y="5030549"/>
            <a:ext cx="1605041" cy="825500"/>
            <a:chOff x="508000" y="5029200"/>
            <a:chExt cx="1605041" cy="825500"/>
          </a:xfrm>
        </p:grpSpPr>
        <p:sp>
          <p:nvSpPr>
            <p:cNvPr id="76" name="Prompt card"/>
            <p:cNvSpPr/>
            <p:nvPr/>
          </p:nvSpPr>
          <p:spPr>
            <a:xfrm>
              <a:off x="508000" y="5029200"/>
              <a:ext cx="1605041" cy="82550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AF1"/>
              </a:solidFill>
            </a:ln>
          </p:spPr>
        </p:sp>
        <p:sp>
          <p:nvSpPr>
            <p:cNvPr id="77" name="Text"/>
            <p:cNvSpPr txBox="1"/>
            <p:nvPr/>
          </p:nvSpPr>
          <p:spPr>
            <a:xfrm>
              <a:off x="652501" y="5184701"/>
              <a:ext cx="1316038" cy="5144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/>
            <a:lstStyle/>
            <a:p>
              <a:pPr algn="just"/>
              <a:r>
                <a:rPr lang="en-US" sz="1600" dirty="0">
                  <a:solidFill>
                    <a:srgbClr val="102033"/>
                  </a:solidFill>
                  <a:latin typeface="Segoe UI"/>
                  <a:cs typeface="Segoe UI"/>
                </a:rPr>
                <a:t>a cute ostrich on the chair</a:t>
              </a:r>
            </a:p>
          </p:txBody>
        </p:sp>
      </p:grpSp>
      <p:pic>
        <p:nvPicPr>
          <p:cNvPr id="80" name="qual_ostrich_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4902200"/>
            <a:ext cx="1260000" cy="1260000"/>
          </a:xfrm>
          <a:prstGeom prst="rect">
            <a:avLst/>
          </a:prstGeom>
        </p:spPr>
      </p:pic>
      <p:pic>
        <p:nvPicPr>
          <p:cNvPr id="82" name="qual_ostrich_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2750" y="4902200"/>
            <a:ext cx="1260000" cy="1260000"/>
          </a:xfrm>
          <a:prstGeom prst="rect">
            <a:avLst/>
          </a:prstGeom>
        </p:spPr>
      </p:pic>
      <p:pic>
        <p:nvPicPr>
          <p:cNvPr id="84" name="qual_ostrich_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9000" y="4902200"/>
            <a:ext cx="1260000" cy="1260000"/>
          </a:xfrm>
          <a:prstGeom prst="rect">
            <a:avLst/>
          </a:prstGeom>
        </p:spPr>
      </p:pic>
      <p:pic>
        <p:nvPicPr>
          <p:cNvPr id="86" name="qual_ostrich_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0" y="4902200"/>
            <a:ext cx="1260000" cy="1260000"/>
          </a:xfrm>
          <a:prstGeom prst="rect">
            <a:avLst/>
          </a:prstGeom>
          <a:effectLst>
            <a:glow rad="101600">
              <a:srgbClr val="0E8F87">
                <a:alpha val="50000"/>
              </a:srgbClr>
            </a:glow>
            <a:softEdge rad="0"/>
          </a:effectLst>
        </p:spPr>
      </p:pic>
      <p:pic>
        <p:nvPicPr>
          <p:cNvPr id="88" name="qual_ostrich_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61500" y="4902200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56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444500" y="342900"/>
            <a:ext cx="114300" cy="444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5" name="Text"/>
          <p:cNvSpPr txBox="1"/>
          <p:nvPr/>
        </p:nvSpPr>
        <p:spPr>
          <a:xfrm>
            <a:off x="711200" y="342900"/>
            <a:ext cx="8255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3000" b="1" dirty="0">
                <a:solidFill>
                  <a:schemeClr val="tx1"/>
                </a:solidFill>
                <a:latin typeface="Segoe UI"/>
                <a:cs typeface="Segoe UI"/>
              </a:rPr>
              <a:t>Итоги и дальнейшая работа</a:t>
            </a:r>
          </a:p>
        </p:txBody>
      </p:sp>
      <p:sp>
        <p:nvSpPr>
          <p:cNvPr id="8" name="Card"/>
          <p:cNvSpPr/>
          <p:nvPr/>
        </p:nvSpPr>
        <p:spPr>
          <a:xfrm>
            <a:off x="635000" y="1492250"/>
            <a:ext cx="5111750" cy="37447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sp>
        <p:nvSpPr>
          <p:cNvPr id="9" name="Text"/>
          <p:cNvSpPr txBox="1"/>
          <p:nvPr/>
        </p:nvSpPr>
        <p:spPr>
          <a:xfrm>
            <a:off x="920750" y="1746250"/>
            <a:ext cx="1905000" cy="311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Что сделано</a:t>
            </a:r>
          </a:p>
        </p:txBody>
      </p:sp>
      <p:sp>
        <p:nvSpPr>
          <p:cNvPr id="10" name="Ellipse"/>
          <p:cNvSpPr/>
          <p:nvPr/>
        </p:nvSpPr>
        <p:spPr>
          <a:xfrm>
            <a:off x="984250" y="2366820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11" name="Text"/>
          <p:cNvSpPr txBox="1"/>
          <p:nvPr/>
        </p:nvSpPr>
        <p:spPr>
          <a:xfrm>
            <a:off x="1149350" y="2254249"/>
            <a:ext cx="3771900" cy="28220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реализовано асинхронное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дообучение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Stable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Diffusion</a:t>
            </a:r>
            <a:endParaRPr lang="ru-RU" sz="1600" dirty="0">
              <a:solidFill>
                <a:srgbClr val="102033"/>
              </a:solidFill>
              <a:latin typeface="Segoe UI"/>
              <a:cs typeface="Segoe UI"/>
            </a:endParaRPr>
          </a:p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исследованы способы построения масок объектов</a:t>
            </a:r>
          </a:p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показан прирост метрики на тестовом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датасете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DrawBench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и улучшение генерации</a:t>
            </a:r>
          </a:p>
        </p:txBody>
      </p:sp>
      <p:sp>
        <p:nvSpPr>
          <p:cNvPr id="12" name="Ellipse"/>
          <p:cNvSpPr/>
          <p:nvPr/>
        </p:nvSpPr>
        <p:spPr>
          <a:xfrm>
            <a:off x="984250" y="2901951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14" name="Ellipse"/>
          <p:cNvSpPr/>
          <p:nvPr/>
        </p:nvSpPr>
        <p:spPr>
          <a:xfrm>
            <a:off x="984250" y="3448050"/>
            <a:ext cx="63500" cy="6350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18" name="Card"/>
          <p:cNvSpPr/>
          <p:nvPr/>
        </p:nvSpPr>
        <p:spPr>
          <a:xfrm>
            <a:off x="6445250" y="1492250"/>
            <a:ext cx="5111750" cy="374476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AF1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6731000" y="1746250"/>
            <a:ext cx="3611418" cy="311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ru-RU" sz="2100" b="1" dirty="0">
                <a:solidFill>
                  <a:srgbClr val="102033"/>
                </a:solidFill>
                <a:latin typeface="Segoe UI"/>
                <a:cs typeface="Segoe UI"/>
              </a:rPr>
              <a:t>Возможные улучшения</a:t>
            </a:r>
          </a:p>
        </p:txBody>
      </p:sp>
      <p:sp>
        <p:nvSpPr>
          <p:cNvPr id="20" name="Ellipse"/>
          <p:cNvSpPr/>
          <p:nvPr/>
        </p:nvSpPr>
        <p:spPr>
          <a:xfrm>
            <a:off x="6794500" y="2368550"/>
            <a:ext cx="63500" cy="63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6959600" y="2254250"/>
            <a:ext cx="3835400" cy="1606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улучшить семантические маски</a:t>
            </a:r>
          </a:p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исследовать более гибкие правила назначения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timestep</a:t>
            </a:r>
            <a:endParaRPr lang="ru-RU" sz="1600" dirty="0">
              <a:solidFill>
                <a:srgbClr val="102033"/>
              </a:solidFill>
              <a:latin typeface="Segoe UI"/>
              <a:cs typeface="Segoe UI"/>
            </a:endParaRPr>
          </a:p>
          <a:p>
            <a:pPr algn="just">
              <a:spcAft>
                <a:spcPts val="400"/>
              </a:spcAft>
            </a:pP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сделать более плавный переход от синхронного обучения к асинхронному</a:t>
            </a:r>
          </a:p>
        </p:txBody>
      </p:sp>
      <p:sp>
        <p:nvSpPr>
          <p:cNvPr id="22" name="Ellipse"/>
          <p:cNvSpPr/>
          <p:nvPr/>
        </p:nvSpPr>
        <p:spPr>
          <a:xfrm>
            <a:off x="6794500" y="2660409"/>
            <a:ext cx="63500" cy="63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26" name="Ellipse"/>
          <p:cNvSpPr/>
          <p:nvPr/>
        </p:nvSpPr>
        <p:spPr>
          <a:xfrm>
            <a:off x="6794500" y="3201263"/>
            <a:ext cx="63500" cy="635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</p:sp>
      <p:sp>
        <p:nvSpPr>
          <p:cNvPr id="34" name="Shape">
            <a:extLst>
              <a:ext uri="{FF2B5EF4-FFF2-40B4-BE49-F238E27FC236}">
                <a16:creationId xmlns:a16="http://schemas.microsoft.com/office/drawing/2014/main" id="{09627AA0-9105-4463-BC90-ABFB04A864D0}"/>
              </a:ext>
            </a:extLst>
          </p:cNvPr>
          <p:cNvSpPr/>
          <p:nvPr/>
        </p:nvSpPr>
        <p:spPr>
          <a:xfrm>
            <a:off x="620568" y="5643820"/>
            <a:ext cx="10950865" cy="549275"/>
          </a:xfrm>
          <a:prstGeom prst="roundRect">
            <a:avLst/>
          </a:prstGeom>
          <a:solidFill>
            <a:srgbClr val="E8F7F6"/>
          </a:solidFill>
          <a:ln w="6350">
            <a:solidFill>
              <a:srgbClr val="B5E2DE"/>
            </a:solidFill>
          </a:ln>
        </p:spPr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1AE5E51C-9CC6-4353-A55D-923A654975F5}"/>
              </a:ext>
            </a:extLst>
          </p:cNvPr>
          <p:cNvSpPr txBox="1"/>
          <p:nvPr/>
        </p:nvSpPr>
        <p:spPr>
          <a:xfrm>
            <a:off x="855219" y="5680332"/>
            <a:ext cx="10481563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just"/>
            <a:r>
              <a:rPr lang="ru-RU" sz="1600" b="1" dirty="0">
                <a:solidFill>
                  <a:srgbClr val="0E8F87"/>
                </a:solidFill>
                <a:latin typeface="Segoe UI"/>
                <a:cs typeface="Segoe UI"/>
              </a:rPr>
              <a:t>Вывод: 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предложенный метод снижает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train-inference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</a:t>
            </a:r>
            <a:r>
              <a:rPr lang="ru-RU" sz="1600" dirty="0" err="1">
                <a:solidFill>
                  <a:srgbClr val="102033"/>
                </a:solidFill>
                <a:latin typeface="Segoe UI"/>
                <a:cs typeface="Segoe UI"/>
              </a:rPr>
              <a:t>gap</a:t>
            </a:r>
            <a:r>
              <a:rPr lang="ru-RU" sz="1600" dirty="0">
                <a:solidFill>
                  <a:srgbClr val="102033"/>
                </a:solidFill>
                <a:latin typeface="Segoe UI"/>
                <a:cs typeface="Segoe UI"/>
              </a:rPr>
              <a:t> для асинхронной диффузии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ackground">
            <a:extLst>
              <a:ext uri="{FF2B5EF4-FFF2-40B4-BE49-F238E27FC236}">
                <a16:creationId xmlns:a16="http://schemas.microsoft.com/office/drawing/2014/main" id="{8B7F7605-F93D-4955-A18D-3EA30B1608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B"/>
          </a:solidFill>
          <a:ln>
            <a:noFill/>
          </a:ln>
        </p:spPr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187B1105-43EA-4DFD-8088-B7C0AADC0B3B}"/>
              </a:ext>
            </a:extLst>
          </p:cNvPr>
          <p:cNvSpPr/>
          <p:nvPr/>
        </p:nvSpPr>
        <p:spPr>
          <a:xfrm>
            <a:off x="444500" y="508000"/>
            <a:ext cx="177800" cy="5397500"/>
          </a:xfrm>
          <a:prstGeom prst="roundRect">
            <a:avLst/>
          </a:prstGeom>
          <a:solidFill>
            <a:srgbClr val="0E8F87"/>
          </a:solidFill>
          <a:ln>
            <a:noFill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611856B-988C-44B6-A00A-EF17074FE46C}"/>
              </a:ext>
            </a:extLst>
          </p:cNvPr>
          <p:cNvSpPr txBox="1"/>
          <p:nvPr/>
        </p:nvSpPr>
        <p:spPr>
          <a:xfrm>
            <a:off x="857250" y="2418464"/>
            <a:ext cx="10605977" cy="2021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ru-RU" sz="3600" b="1" dirty="0">
                <a:solidFill>
                  <a:srgbClr val="102033"/>
                </a:solidFill>
                <a:latin typeface="Segoe UI"/>
                <a:cs typeface="Segoe UI"/>
              </a:rPr>
              <a:t>Спасибо </a:t>
            </a:r>
            <a:r>
              <a:rPr lang="ru-RU" sz="3600" b="1">
                <a:solidFill>
                  <a:srgbClr val="102033"/>
                </a:solidFill>
                <a:latin typeface="Segoe UI"/>
                <a:cs typeface="Segoe UI"/>
              </a:rPr>
              <a:t>за внимание!</a:t>
            </a:r>
            <a:endParaRPr lang="ru-RU" sz="3600" b="1" dirty="0">
              <a:solidFill>
                <a:srgbClr val="102033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810769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642</Words>
  <Application>Microsoft Office PowerPoint</Application>
  <PresentationFormat>Широкоэкранный</PresentationFormat>
  <Paragraphs>149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Пространственно-адаптивное расписание зашумления для диффузионных моделей</dc:title>
  <dc:creator>Codex</dc:creator>
  <cp:lastModifiedBy>Елена Гришина</cp:lastModifiedBy>
  <cp:revision>86</cp:revision>
  <dcterms:created xsi:type="dcterms:W3CDTF">2026-05-27T08:44:55Z</dcterms:created>
  <dcterms:modified xsi:type="dcterms:W3CDTF">2026-06-01T18:11:25Z</dcterms:modified>
</cp:coreProperties>
</file>